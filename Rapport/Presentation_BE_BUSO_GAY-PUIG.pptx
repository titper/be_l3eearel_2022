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7"/>
  </p:notesMasterIdLst>
  <p:sldIdLst>
    <p:sldId id="276" r:id="rId2"/>
    <p:sldId id="277" r:id="rId3"/>
    <p:sldId id="280" r:id="rId4"/>
    <p:sldId id="281" r:id="rId5"/>
    <p:sldId id="278" r:id="rId6"/>
    <p:sldId id="279" r:id="rId7"/>
    <p:sldId id="282" r:id="rId8"/>
    <p:sldId id="284" r:id="rId9"/>
    <p:sldId id="285" r:id="rId10"/>
    <p:sldId id="286" r:id="rId11"/>
    <p:sldId id="287" r:id="rId12"/>
    <p:sldId id="288" r:id="rId13"/>
    <p:sldId id="289" r:id="rId14"/>
    <p:sldId id="290" r:id="rId15"/>
    <p:sldId id="29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157A"/>
    <a:srgbClr val="E014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4" d="100"/>
          <a:sy n="84" d="100"/>
        </p:scale>
        <p:origin x="61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AB2C6B-C371-4F30-AFD4-D827697055E2}" type="datetimeFigureOut">
              <a:rPr lang="fr-FR" smtClean="0"/>
              <a:t>18/05/2022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F4D62-BB35-4EBD-923B-DFB15F284F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6398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Explication </a:t>
            </a:r>
            <a:r>
              <a:rPr lang="fr-FR" dirty="0" err="1"/>
              <a:t>pwm</a:t>
            </a:r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F4D62-BB35-4EBD-923B-DFB15F284FD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3930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CB8DA4-A6FB-4B6D-8435-FDEB11753D31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E6E99-9CD9-4333-8B42-70085247C77B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26291" y="6316936"/>
            <a:ext cx="1052508" cy="365125"/>
          </a:xfrm>
        </p:spPr>
        <p:txBody>
          <a:bodyPr/>
          <a:lstStyle>
            <a:lvl1pPr>
              <a:defRPr sz="1400"/>
            </a:lvl1pPr>
          </a:lstStyle>
          <a:p>
            <a:fld id="{D57F1E4F-1CFF-5643-939E-217C01CDF565}" type="slidenum">
              <a:rPr lang="en-US" smtClean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0A9D6F4-BB15-40E4-A5B7-7F153C1791A8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D008E-B98F-458E-A520-0BB7E5862FDA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7DE96-53AA-4C86-9D5B-23C93578C90B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3F6D0-532E-4C8E-B9AB-43B692EDA8DF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7AFB8-8047-4326-B5C2-A134DCF24DC3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9AC62F80-C1BD-4BC6-BDFE-FC6E0E310E79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79694-D051-4050-8031-38C766237AC3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63198-70F6-4036-A053-B2F28700EC1B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37243D-ECF8-4458-AEBE-D1652454E528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7CCE4AB-F25B-473B-8195-D378D74F0C8A}" type="datetime1">
              <a:rPr lang="en-US" smtClean="0"/>
              <a:t>5/18/2022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CC85FFF7-056F-45A4-9373-868D6F6978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Projet </a:t>
            </a:r>
            <a:r>
              <a:rPr lang="fr-FR" dirty="0" err="1"/>
              <a:t>be</a:t>
            </a:r>
            <a:r>
              <a:rPr lang="fr-FR" dirty="0"/>
              <a:t> : réalisation d’un drone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4C01BD5-DDC3-42EA-8B1D-B726F8D269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L3 EEA REL</a:t>
            </a:r>
          </a:p>
          <a:p>
            <a:r>
              <a:rPr lang="fr-FR" dirty="0" err="1"/>
              <a:t>Buso</a:t>
            </a:r>
            <a:r>
              <a:rPr lang="fr-FR" dirty="0"/>
              <a:t> </a:t>
            </a:r>
            <a:r>
              <a:rPr lang="fr-FR" dirty="0" err="1"/>
              <a:t>lohan</a:t>
            </a:r>
            <a:r>
              <a:rPr lang="fr-FR" dirty="0"/>
              <a:t> / </a:t>
            </a:r>
            <a:r>
              <a:rPr lang="fr-FR" dirty="0" err="1"/>
              <a:t>guy-puig</a:t>
            </a:r>
            <a:r>
              <a:rPr lang="fr-FR" dirty="0"/>
              <a:t> </a:t>
            </a:r>
            <a:r>
              <a:rPr lang="fr-FR" dirty="0" err="1"/>
              <a:t>antoine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B02F3E7-2C60-439F-BB91-AFE453AD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2B4BE52F-2C7D-4609-A047-B06B377429C0}"/>
              </a:ext>
            </a:extLst>
          </p:cNvPr>
          <p:cNvSpPr txBox="1">
            <a:spLocks/>
          </p:cNvSpPr>
          <p:nvPr/>
        </p:nvSpPr>
        <p:spPr>
          <a:xfrm>
            <a:off x="617260" y="3238149"/>
            <a:ext cx="10649155" cy="2818701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2400" b="1" dirty="0">
                <a:solidFill>
                  <a:schemeClr val="bg1"/>
                </a:solidFill>
              </a:rPr>
              <a:t>1- Schéma fonctionnel</a:t>
            </a:r>
          </a:p>
          <a:p>
            <a:endParaRPr lang="fr-FR" sz="2400" b="1" dirty="0">
              <a:solidFill>
                <a:schemeClr val="bg1"/>
              </a:solidFill>
            </a:endParaRPr>
          </a:p>
          <a:p>
            <a:r>
              <a:rPr lang="fr-FR" sz="2400" b="1" dirty="0">
                <a:solidFill>
                  <a:schemeClr val="bg1"/>
                </a:solidFill>
              </a:rPr>
              <a:t>II- Anatomie du drone </a:t>
            </a:r>
          </a:p>
          <a:p>
            <a:endParaRPr lang="fr-FR" sz="2400" b="1" dirty="0">
              <a:solidFill>
                <a:schemeClr val="bg1"/>
              </a:solidFill>
            </a:endParaRPr>
          </a:p>
          <a:p>
            <a:r>
              <a:rPr lang="fr-FR" sz="2400" b="1" dirty="0">
                <a:solidFill>
                  <a:schemeClr val="bg1"/>
                </a:solidFill>
              </a:rPr>
              <a:t>III- Réalisation du drone</a:t>
            </a:r>
          </a:p>
          <a:p>
            <a:endParaRPr lang="fr-FR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4205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949917D-39A4-4EED-A803-FC62CACE07D0}"/>
              </a:ext>
            </a:extLst>
          </p:cNvPr>
          <p:cNvSpPr/>
          <p:nvPr/>
        </p:nvSpPr>
        <p:spPr>
          <a:xfrm>
            <a:off x="4692015" y="2366720"/>
            <a:ext cx="2941013" cy="28636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D6D4D3-C91B-48CC-8807-E749CEF7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1- Schéma fonctionnel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B2CB25-9CDD-4837-9425-5DAC8F9C1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45E200-1023-4097-B759-EDC4EBB63463}"/>
              </a:ext>
            </a:extLst>
          </p:cNvPr>
          <p:cNvSpPr/>
          <p:nvPr/>
        </p:nvSpPr>
        <p:spPr>
          <a:xfrm>
            <a:off x="361118" y="3349536"/>
            <a:ext cx="1273770" cy="887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00" dirty="0">
                <a:latin typeface="Arial" panose="020B0604020202020204" pitchFamily="34" charset="0"/>
                <a:cs typeface="Arial" panose="020B0604020202020204" pitchFamily="34" charset="0"/>
              </a:rPr>
              <a:t>Radio - télécommande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82AC19-8D00-4FCA-AE88-CD1F51D8D84B}"/>
              </a:ext>
            </a:extLst>
          </p:cNvPr>
          <p:cNvSpPr/>
          <p:nvPr/>
        </p:nvSpPr>
        <p:spPr>
          <a:xfrm>
            <a:off x="2688583" y="3349536"/>
            <a:ext cx="1273770" cy="887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00" dirty="0">
                <a:latin typeface="Arial" panose="020B0604020202020204" pitchFamily="34" charset="0"/>
                <a:cs typeface="Arial" panose="020B0604020202020204" pitchFamily="34" charset="0"/>
              </a:rPr>
              <a:t>Récepteur RF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4926AA-5624-4798-8432-61B9A2945ACB}"/>
              </a:ext>
            </a:extLst>
          </p:cNvPr>
          <p:cNvSpPr/>
          <p:nvPr/>
        </p:nvSpPr>
        <p:spPr>
          <a:xfrm>
            <a:off x="5525636" y="2785465"/>
            <a:ext cx="1273770" cy="887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00" dirty="0">
                <a:latin typeface="Arial" panose="020B0604020202020204" pitchFamily="34" charset="0"/>
                <a:cs typeface="Arial" panose="020B0604020202020204" pitchFamily="34" charset="0"/>
              </a:rPr>
              <a:t>Commande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67CDEC-4F4A-4919-88F7-56677AE81DFA}"/>
              </a:ext>
            </a:extLst>
          </p:cNvPr>
          <p:cNvSpPr/>
          <p:nvPr/>
        </p:nvSpPr>
        <p:spPr>
          <a:xfrm>
            <a:off x="5525636" y="4137660"/>
            <a:ext cx="1273770" cy="887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00" dirty="0">
                <a:latin typeface="Arial" panose="020B0604020202020204" pitchFamily="34" charset="0"/>
                <a:cs typeface="Arial" panose="020B0604020202020204" pitchFamily="34" charset="0"/>
              </a:rPr>
              <a:t>Stabilisation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4FB3D2-BA05-4ED1-B641-BD715C6127BD}"/>
              </a:ext>
            </a:extLst>
          </p:cNvPr>
          <p:cNvSpPr/>
          <p:nvPr/>
        </p:nvSpPr>
        <p:spPr>
          <a:xfrm>
            <a:off x="5525636" y="5694833"/>
            <a:ext cx="1273770" cy="887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00" dirty="0">
                <a:latin typeface="Arial" panose="020B0604020202020204" pitchFamily="34" charset="0"/>
                <a:cs typeface="Arial" panose="020B0604020202020204" pitchFamily="34" charset="0"/>
              </a:rPr>
              <a:t>Capteur Gyroscopique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4C55E-2BAB-48F0-B0FD-5531770AADFF}"/>
              </a:ext>
            </a:extLst>
          </p:cNvPr>
          <p:cNvSpPr/>
          <p:nvPr/>
        </p:nvSpPr>
        <p:spPr>
          <a:xfrm>
            <a:off x="8327188" y="3352800"/>
            <a:ext cx="1273770" cy="887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00" dirty="0">
                <a:latin typeface="Arial" panose="020B0604020202020204" pitchFamily="34" charset="0"/>
                <a:cs typeface="Arial" panose="020B0604020202020204" pitchFamily="34" charset="0"/>
              </a:rPr>
              <a:t>ESC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9EB98C-8649-4B6A-AA96-E33A3E233AEA}"/>
              </a:ext>
            </a:extLst>
          </p:cNvPr>
          <p:cNvSpPr/>
          <p:nvPr/>
        </p:nvSpPr>
        <p:spPr>
          <a:xfrm>
            <a:off x="10410825" y="3358464"/>
            <a:ext cx="1273770" cy="887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00" dirty="0">
                <a:latin typeface="Arial" panose="020B0604020202020204" pitchFamily="34" charset="0"/>
                <a:cs typeface="Arial" panose="020B0604020202020204" pitchFamily="34" charset="0"/>
              </a:rPr>
              <a:t>Moteur </a:t>
            </a:r>
            <a:r>
              <a:rPr lang="fr-FR" sz="1300" dirty="0" err="1">
                <a:latin typeface="Arial" panose="020B0604020202020204" pitchFamily="34" charset="0"/>
                <a:cs typeface="Arial" panose="020B0604020202020204" pitchFamily="34" charset="0"/>
              </a:rPr>
              <a:t>Brushless</a:t>
            </a:r>
            <a:endParaRPr lang="fr-FR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31B189E-0FC5-41A6-AD5B-40C59190FE91}"/>
              </a:ext>
            </a:extLst>
          </p:cNvPr>
          <p:cNvSpPr txBox="1"/>
          <p:nvPr/>
        </p:nvSpPr>
        <p:spPr>
          <a:xfrm>
            <a:off x="4747337" y="2477688"/>
            <a:ext cx="1200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Arial" panose="020B0604020202020204" pitchFamily="34" charset="0"/>
                <a:cs typeface="Arial" panose="020B0604020202020204" pitchFamily="34" charset="0"/>
              </a:rPr>
              <a:t>Arduino</a:t>
            </a:r>
          </a:p>
        </p:txBody>
      </p:sp>
      <p:cxnSp>
        <p:nvCxnSpPr>
          <p:cNvPr id="22" name="Connecteur : en angle 21">
            <a:extLst>
              <a:ext uri="{FF2B5EF4-FFF2-40B4-BE49-F238E27FC236}">
                <a16:creationId xmlns:a16="http://schemas.microsoft.com/office/drawing/2014/main" id="{6F0A5E47-D4F8-49C0-8D10-FF7AB156934E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 flipV="1">
            <a:off x="3962353" y="3229330"/>
            <a:ext cx="1563283" cy="56407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 : en angle 23">
            <a:extLst>
              <a:ext uri="{FF2B5EF4-FFF2-40B4-BE49-F238E27FC236}">
                <a16:creationId xmlns:a16="http://schemas.microsoft.com/office/drawing/2014/main" id="{F642E9E0-4C67-4D11-8D34-8009AB02849B}"/>
              </a:ext>
            </a:extLst>
          </p:cNvPr>
          <p:cNvCxnSpPr>
            <a:stCxn id="14" idx="3"/>
            <a:endCxn id="17" idx="1"/>
          </p:cNvCxnSpPr>
          <p:nvPr/>
        </p:nvCxnSpPr>
        <p:spPr>
          <a:xfrm>
            <a:off x="6799406" y="3229330"/>
            <a:ext cx="1527782" cy="5673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F41C13F3-A7B9-45FF-BB68-E03C9325CCBB}"/>
              </a:ext>
            </a:extLst>
          </p:cNvPr>
          <p:cNvCxnSpPr>
            <a:stCxn id="16" idx="0"/>
            <a:endCxn id="15" idx="2"/>
          </p:cNvCxnSpPr>
          <p:nvPr/>
        </p:nvCxnSpPr>
        <p:spPr>
          <a:xfrm flipV="1">
            <a:off x="6162521" y="5025390"/>
            <a:ext cx="0" cy="6694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CCDBE7ED-0550-489A-A0B9-B4A6FB258326}"/>
              </a:ext>
            </a:extLst>
          </p:cNvPr>
          <p:cNvCxnSpPr>
            <a:cxnSpLocks/>
          </p:cNvCxnSpPr>
          <p:nvPr/>
        </p:nvCxnSpPr>
        <p:spPr>
          <a:xfrm flipH="1">
            <a:off x="4318578" y="3703401"/>
            <a:ext cx="136727" cy="18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D36460DB-D655-4345-81CC-7D424FBEC020}"/>
              </a:ext>
            </a:extLst>
          </p:cNvPr>
          <p:cNvSpPr txBox="1"/>
          <p:nvPr/>
        </p:nvSpPr>
        <p:spPr>
          <a:xfrm>
            <a:off x="4318723" y="3428999"/>
            <a:ext cx="136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6360B38-ED85-47A1-86B7-1BE00E68DE6D}"/>
              </a:ext>
            </a:extLst>
          </p:cNvPr>
          <p:cNvSpPr txBox="1"/>
          <p:nvPr/>
        </p:nvSpPr>
        <p:spPr>
          <a:xfrm>
            <a:off x="4109572" y="3929303"/>
            <a:ext cx="6629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" panose="020B0604020202020204" pitchFamily="34" charset="0"/>
              </a:rPr>
              <a:t>PWM</a:t>
            </a:r>
          </a:p>
        </p:txBody>
      </p:sp>
      <p:cxnSp>
        <p:nvCxnSpPr>
          <p:cNvPr id="39" name="Connecteur : en angle 38">
            <a:extLst>
              <a:ext uri="{FF2B5EF4-FFF2-40B4-BE49-F238E27FC236}">
                <a16:creationId xmlns:a16="http://schemas.microsoft.com/office/drawing/2014/main" id="{257476E7-B686-43AF-827E-D46E800B5D69}"/>
              </a:ext>
            </a:extLst>
          </p:cNvPr>
          <p:cNvCxnSpPr>
            <a:stCxn id="7" idx="3"/>
          </p:cNvCxnSpPr>
          <p:nvPr/>
        </p:nvCxnSpPr>
        <p:spPr>
          <a:xfrm flipV="1">
            <a:off x="1634888" y="3567498"/>
            <a:ext cx="209152" cy="225903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6ECCE42C-20A0-49AA-987D-6463F64DF5A5}"/>
              </a:ext>
            </a:extLst>
          </p:cNvPr>
          <p:cNvCxnSpPr>
            <a:stCxn id="13" idx="1"/>
          </p:cNvCxnSpPr>
          <p:nvPr/>
        </p:nvCxnSpPr>
        <p:spPr>
          <a:xfrm rot="10800000">
            <a:off x="2479783" y="3567499"/>
            <a:ext cx="208800" cy="225903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06F84EA4-7325-4CB8-8ACC-8FA52C173706}"/>
              </a:ext>
            </a:extLst>
          </p:cNvPr>
          <p:cNvCxnSpPr/>
          <p:nvPr/>
        </p:nvCxnSpPr>
        <p:spPr>
          <a:xfrm flipH="1" flipV="1">
            <a:off x="1781175" y="3491865"/>
            <a:ext cx="62865" cy="756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786FE0B6-5981-434C-B426-372A72369C3A}"/>
              </a:ext>
            </a:extLst>
          </p:cNvPr>
          <p:cNvCxnSpPr>
            <a:cxnSpLocks/>
          </p:cNvCxnSpPr>
          <p:nvPr/>
        </p:nvCxnSpPr>
        <p:spPr>
          <a:xfrm flipV="1">
            <a:off x="1843689" y="3491865"/>
            <a:ext cx="65556" cy="756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57790DF4-4ABB-4F47-9526-56961D77421D}"/>
              </a:ext>
            </a:extLst>
          </p:cNvPr>
          <p:cNvCxnSpPr/>
          <p:nvPr/>
        </p:nvCxnSpPr>
        <p:spPr>
          <a:xfrm flipH="1" flipV="1">
            <a:off x="2416917" y="3491865"/>
            <a:ext cx="62865" cy="756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E450F287-B64F-4C64-A076-E8AC6C85771F}"/>
              </a:ext>
            </a:extLst>
          </p:cNvPr>
          <p:cNvCxnSpPr>
            <a:cxnSpLocks/>
          </p:cNvCxnSpPr>
          <p:nvPr/>
        </p:nvCxnSpPr>
        <p:spPr>
          <a:xfrm flipV="1">
            <a:off x="2479431" y="3491865"/>
            <a:ext cx="65556" cy="756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ZoneTexte 53">
            <a:extLst>
              <a:ext uri="{FF2B5EF4-FFF2-40B4-BE49-F238E27FC236}">
                <a16:creationId xmlns:a16="http://schemas.microsoft.com/office/drawing/2014/main" id="{734D2D9F-500D-4887-B374-2EABAACB8466}"/>
              </a:ext>
            </a:extLst>
          </p:cNvPr>
          <p:cNvSpPr txBox="1"/>
          <p:nvPr/>
        </p:nvSpPr>
        <p:spPr>
          <a:xfrm>
            <a:off x="1695467" y="3152001"/>
            <a:ext cx="12068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" panose="020B0604020202020204" pitchFamily="34" charset="0"/>
                <a:cs typeface="Arial" panose="020B0604020202020204" pitchFamily="34" charset="0"/>
              </a:rPr>
              <a:t>RF 2.4 </a:t>
            </a:r>
            <a:r>
              <a:rPr lang="fr-FR" sz="1200" dirty="0" err="1">
                <a:latin typeface="Arial" panose="020B0604020202020204" pitchFamily="34" charset="0"/>
                <a:cs typeface="Arial" panose="020B0604020202020204" pitchFamily="34" charset="0"/>
              </a:rPr>
              <a:t>Ghz</a:t>
            </a:r>
            <a:endParaRPr lang="fr-F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A0CD1A2D-4277-4D15-A149-59F58AAC2D0B}"/>
              </a:ext>
            </a:extLst>
          </p:cNvPr>
          <p:cNvCxnSpPr>
            <a:cxnSpLocks/>
          </p:cNvCxnSpPr>
          <p:nvPr/>
        </p:nvCxnSpPr>
        <p:spPr>
          <a:xfrm flipH="1">
            <a:off x="7765167" y="3703401"/>
            <a:ext cx="136727" cy="18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ZoneTexte 55">
            <a:extLst>
              <a:ext uri="{FF2B5EF4-FFF2-40B4-BE49-F238E27FC236}">
                <a16:creationId xmlns:a16="http://schemas.microsoft.com/office/drawing/2014/main" id="{2FA703BE-B1C5-4268-B00E-EA929D482790}"/>
              </a:ext>
            </a:extLst>
          </p:cNvPr>
          <p:cNvSpPr txBox="1"/>
          <p:nvPr/>
        </p:nvSpPr>
        <p:spPr>
          <a:xfrm>
            <a:off x="7765312" y="3428999"/>
            <a:ext cx="136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826E6FBD-46A8-4FE6-B269-E06624948D67}"/>
              </a:ext>
            </a:extLst>
          </p:cNvPr>
          <p:cNvSpPr txBox="1"/>
          <p:nvPr/>
        </p:nvSpPr>
        <p:spPr>
          <a:xfrm>
            <a:off x="7556161" y="3929303"/>
            <a:ext cx="6629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" panose="020B0604020202020204" pitchFamily="34" charset="0"/>
              </a:rPr>
              <a:t>PWM</a:t>
            </a:r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EB5D3304-0809-41C1-A322-0C6C46B6D7A9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>
            <a:off x="9600958" y="3796665"/>
            <a:ext cx="809867" cy="5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26F05EE3-A68B-4B33-B2BE-7FFF05BFACFD}"/>
              </a:ext>
            </a:extLst>
          </p:cNvPr>
          <p:cNvCxnSpPr>
            <a:cxnSpLocks/>
          </p:cNvCxnSpPr>
          <p:nvPr/>
        </p:nvCxnSpPr>
        <p:spPr>
          <a:xfrm flipH="1">
            <a:off x="9906228" y="3700804"/>
            <a:ext cx="136727" cy="18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ZoneTexte 61">
            <a:extLst>
              <a:ext uri="{FF2B5EF4-FFF2-40B4-BE49-F238E27FC236}">
                <a16:creationId xmlns:a16="http://schemas.microsoft.com/office/drawing/2014/main" id="{D4400C39-E53F-4C7B-AF7B-A7AB0E582A8C}"/>
              </a:ext>
            </a:extLst>
          </p:cNvPr>
          <p:cNvSpPr txBox="1"/>
          <p:nvPr/>
        </p:nvSpPr>
        <p:spPr>
          <a:xfrm>
            <a:off x="9906373" y="3426402"/>
            <a:ext cx="136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8ACF440F-0EBB-4D72-ADBE-31934B3BAB1F}"/>
              </a:ext>
            </a:extLst>
          </p:cNvPr>
          <p:cNvSpPr txBox="1"/>
          <p:nvPr/>
        </p:nvSpPr>
        <p:spPr>
          <a:xfrm>
            <a:off x="9638021" y="3929303"/>
            <a:ext cx="8098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" panose="020B0604020202020204" pitchFamily="34" charset="0"/>
              </a:rPr>
              <a:t>Triphasé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DBB27FEC-C322-4AF2-AB31-B85AA57263D5}"/>
              </a:ext>
            </a:extLst>
          </p:cNvPr>
          <p:cNvCxnSpPr>
            <a:cxnSpLocks/>
          </p:cNvCxnSpPr>
          <p:nvPr/>
        </p:nvCxnSpPr>
        <p:spPr>
          <a:xfrm flipH="1">
            <a:off x="6094157" y="5289255"/>
            <a:ext cx="136727" cy="18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ZoneTexte 64">
            <a:extLst>
              <a:ext uri="{FF2B5EF4-FFF2-40B4-BE49-F238E27FC236}">
                <a16:creationId xmlns:a16="http://schemas.microsoft.com/office/drawing/2014/main" id="{02445315-DB56-4438-A4BF-A4ED32ABBA8C}"/>
              </a:ext>
            </a:extLst>
          </p:cNvPr>
          <p:cNvSpPr txBox="1"/>
          <p:nvPr/>
        </p:nvSpPr>
        <p:spPr>
          <a:xfrm>
            <a:off x="6262277" y="5240755"/>
            <a:ext cx="6629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" panose="020B0604020202020204" pitchFamily="34" charset="0"/>
              </a:rPr>
              <a:t>I2C</a:t>
            </a:r>
          </a:p>
        </p:txBody>
      </p:sp>
    </p:spTree>
    <p:extLst>
      <p:ext uri="{BB962C8B-B14F-4D97-AF65-F5344CB8AC3E}">
        <p14:creationId xmlns:p14="http://schemas.microsoft.com/office/powerpoint/2010/main" val="3681037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II- Anatomie du drone 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/>
          <a:lstStyle/>
          <a:p>
            <a:r>
              <a:rPr lang="fr-FR" dirty="0"/>
              <a:t>ESC / Moteurs </a:t>
            </a:r>
            <a:r>
              <a:rPr lang="fr-FR" dirty="0" err="1"/>
              <a:t>brushless</a:t>
            </a:r>
            <a:r>
              <a:rPr lang="fr-FR" dirty="0"/>
              <a:t>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F517916-2CAA-4235-8D29-1D30019D14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93" y="2881180"/>
            <a:ext cx="6907180" cy="3074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 descr="Une image contenant connecteur, câble&#10;&#10;Description générée automatiquement">
            <a:extLst>
              <a:ext uri="{FF2B5EF4-FFF2-40B4-BE49-F238E27FC236}">
                <a16:creationId xmlns:a16="http://schemas.microsoft.com/office/drawing/2014/main" id="{83EF32E6-A27C-4859-8CAD-D905185B2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430" y="2576573"/>
            <a:ext cx="3284477" cy="328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423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II- Anatomie du drone 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/>
          <a:lstStyle/>
          <a:p>
            <a:r>
              <a:rPr lang="fr-FR" dirty="0"/>
              <a:t>ESC / Moteurs </a:t>
            </a:r>
            <a:r>
              <a:rPr lang="fr-FR" dirty="0" err="1"/>
              <a:t>brushless</a:t>
            </a:r>
            <a:r>
              <a:rPr lang="fr-FR" dirty="0"/>
              <a:t>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33D7656-48F5-4788-AD8B-492825DE3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4062"/>
          <a:stretch/>
        </p:blipFill>
        <p:spPr>
          <a:xfrm>
            <a:off x="3736093" y="2402447"/>
            <a:ext cx="4719814" cy="3553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632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II- Anatomie du drone 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/>
          <a:lstStyle/>
          <a:p>
            <a:r>
              <a:rPr lang="fr-FR" dirty="0"/>
              <a:t>Radio-télécommande / Récepteur RF 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F9BD7EC2-61C8-414F-A8F3-3EF0D7B70BD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59828" y="2717079"/>
            <a:ext cx="2712356" cy="2935450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1817146-42C8-48F4-B049-380B0868C1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914" y="3227655"/>
            <a:ext cx="4865914" cy="2424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BB23350-1875-001F-49EF-D0FA3DCE59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029" y="2972003"/>
            <a:ext cx="3594100" cy="269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80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II- Anatomie du drone 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/>
          <a:lstStyle/>
          <a:p>
            <a:r>
              <a:rPr lang="fr-FR" dirty="0"/>
              <a:t>Radio-télécommande / Récepteur RF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F5F56A14-9745-4C05-AF16-4B9B058D5600}"/>
              </a:ext>
            </a:extLst>
          </p:cNvPr>
          <p:cNvGrpSpPr/>
          <p:nvPr/>
        </p:nvGrpSpPr>
        <p:grpSpPr>
          <a:xfrm>
            <a:off x="5932098" y="3085155"/>
            <a:ext cx="5601419" cy="2631224"/>
            <a:chOff x="5643472" y="2605822"/>
            <a:chExt cx="5236245" cy="228420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59831F63-C2DA-4B99-8130-98FFA9261F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43472" y="2605823"/>
              <a:ext cx="3058509" cy="2284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DF7609BF-965F-46E3-B094-0A0D26929D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01981" y="2605822"/>
              <a:ext cx="2177736" cy="2284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83EE4963-F13A-4E53-A368-57D217A50CA8}"/>
              </a:ext>
            </a:extLst>
          </p:cNvPr>
          <p:cNvGrpSpPr/>
          <p:nvPr/>
        </p:nvGrpSpPr>
        <p:grpSpPr>
          <a:xfrm>
            <a:off x="581190" y="2845399"/>
            <a:ext cx="5029846" cy="3110738"/>
            <a:chOff x="344411" y="3551764"/>
            <a:chExt cx="4410075" cy="2676526"/>
          </a:xfrm>
        </p:grpSpPr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8A04AECE-F594-41CB-B27B-4E30B1D328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4411" y="3551765"/>
              <a:ext cx="1981200" cy="26765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9C883F28-270F-41CB-8DE3-BCD9FB187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25611" y="3551764"/>
              <a:ext cx="2428875" cy="26765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56804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II- Anatomie du drone 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>
            <a:normAutofit/>
          </a:bodyPr>
          <a:lstStyle/>
          <a:p>
            <a:r>
              <a:rPr lang="fr-FR" dirty="0"/>
              <a:t>Capteur MPU6050</a:t>
            </a:r>
          </a:p>
          <a:p>
            <a:pPr lvl="1"/>
            <a:r>
              <a:rPr lang="fr-FR" dirty="0"/>
              <a:t> Tension d’alimentation : entre 2.375V et 3.45V</a:t>
            </a:r>
          </a:p>
          <a:p>
            <a:pPr lvl="1"/>
            <a:r>
              <a:rPr lang="fr-FR" dirty="0"/>
              <a:t>Utilisation des interruptions</a:t>
            </a:r>
          </a:p>
          <a:p>
            <a:pPr lvl="1"/>
            <a:r>
              <a:rPr lang="fr-FR" dirty="0"/>
              <a:t>Communication bus I2C</a:t>
            </a:r>
          </a:p>
          <a:p>
            <a:pPr lvl="1"/>
            <a:r>
              <a:rPr lang="fr-FR" dirty="0"/>
              <a:t>Gyroscope :</a:t>
            </a:r>
          </a:p>
          <a:p>
            <a:pPr lvl="2"/>
            <a:r>
              <a:rPr lang="fr-FR" dirty="0"/>
              <a:t>Précision : ±2000°/sec</a:t>
            </a:r>
          </a:p>
          <a:p>
            <a:pPr lvl="2"/>
            <a:r>
              <a:rPr lang="fr-FR" dirty="0"/>
              <a:t>Consommation nominale : 3.6mA</a:t>
            </a:r>
          </a:p>
          <a:p>
            <a:pPr lvl="1"/>
            <a:r>
              <a:rPr lang="fr-FR" dirty="0"/>
              <a:t>Accéléromètre : </a:t>
            </a:r>
          </a:p>
          <a:p>
            <a:pPr lvl="2"/>
            <a:r>
              <a:rPr lang="fr-FR" dirty="0"/>
              <a:t>Précision : ±16g</a:t>
            </a:r>
          </a:p>
          <a:p>
            <a:pPr lvl="2"/>
            <a:r>
              <a:rPr lang="fr-FR" dirty="0"/>
              <a:t>Consommation nominale : 500µA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AE9E283-88DD-02C2-672F-769063E0D9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9" y="2701129"/>
            <a:ext cx="3159921" cy="3159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931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III- réalisation du drone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>
            <a:normAutofit/>
          </a:bodyPr>
          <a:lstStyle/>
          <a:p>
            <a:r>
              <a:rPr lang="fr-FR" dirty="0"/>
              <a:t>Utilisation et calibration des ESC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7BCCFC2-AC21-3B21-89FF-ED08B0948B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" y="3157220"/>
            <a:ext cx="5760720" cy="2566670"/>
          </a:xfrm>
          <a:prstGeom prst="rect">
            <a:avLst/>
          </a:prstGeom>
        </p:spPr>
      </p:pic>
      <p:pic>
        <p:nvPicPr>
          <p:cNvPr id="8" name="Image 7" descr="Une image contenant texte, moniteur, noir, argent&#10;&#10;Description générée automatiquement">
            <a:extLst>
              <a:ext uri="{FF2B5EF4-FFF2-40B4-BE49-F238E27FC236}">
                <a16:creationId xmlns:a16="http://schemas.microsoft.com/office/drawing/2014/main" id="{6FBAD224-A7D7-C221-D7EC-39070F4B07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7910" y="1898963"/>
            <a:ext cx="2880365" cy="215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Image 8" descr="Une image contenant texte, moniteur, noir, argent&#10;&#10;Description générée automatiquement">
            <a:extLst>
              <a:ext uri="{FF2B5EF4-FFF2-40B4-BE49-F238E27FC236}">
                <a16:creationId xmlns:a16="http://schemas.microsoft.com/office/drawing/2014/main" id="{6F07FADF-A4D9-88DF-27AE-FC45DA43E8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7909" y="4166696"/>
            <a:ext cx="2880365" cy="21545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10692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III- réalisation du drone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2" y="2228003"/>
            <a:ext cx="6474927" cy="3633047"/>
          </a:xfrm>
        </p:spPr>
        <p:txBody>
          <a:bodyPr anchor="t">
            <a:normAutofit/>
          </a:bodyPr>
          <a:lstStyle/>
          <a:p>
            <a:r>
              <a:rPr lang="fr-FR" dirty="0"/>
              <a:t>Calibration/exploitation du capteur gyroscopique MPU6050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0" name="Image 9" descr="Une image contenant texte, équipement électronique, circuit&#10;&#10;Description générée automatiquement">
            <a:extLst>
              <a:ext uri="{FF2B5EF4-FFF2-40B4-BE49-F238E27FC236}">
                <a16:creationId xmlns:a16="http://schemas.microsoft.com/office/drawing/2014/main" id="{B4A12193-5A24-FB3A-686A-F84FCF3CA9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0429" y="2986951"/>
            <a:ext cx="4017349" cy="317944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A0D3A31-D2C3-8B7B-06F0-711EC04A2B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015" y="2768472"/>
            <a:ext cx="4878312" cy="351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59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III- réalisation du drone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2" y="2228003"/>
            <a:ext cx="6474927" cy="3633047"/>
          </a:xfrm>
        </p:spPr>
        <p:txBody>
          <a:bodyPr anchor="t">
            <a:normAutofit/>
          </a:bodyPr>
          <a:lstStyle/>
          <a:p>
            <a:r>
              <a:rPr lang="fr-FR" dirty="0"/>
              <a:t>Utilisation radio-télécommande et récepteur RF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C8E01E5-5926-8D4E-CAF2-F9F338660A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51" y="2843684"/>
            <a:ext cx="3139440" cy="3295015"/>
          </a:xfrm>
          <a:prstGeom prst="rect">
            <a:avLst/>
          </a:prstGeom>
        </p:spPr>
      </p:pic>
      <p:pic>
        <p:nvPicPr>
          <p:cNvPr id="8" name="Image 7" descr="Une image contenant table&#10;&#10;Description générée automatiquement">
            <a:extLst>
              <a:ext uri="{FF2B5EF4-FFF2-40B4-BE49-F238E27FC236}">
                <a16:creationId xmlns:a16="http://schemas.microsoft.com/office/drawing/2014/main" id="{19DB2629-132D-C82F-A34B-65B38FFDE8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902" y="2748991"/>
            <a:ext cx="5214618" cy="348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457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III- réalisation du drone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2" y="2228003"/>
            <a:ext cx="6474927" cy="3633047"/>
          </a:xfrm>
        </p:spPr>
        <p:txBody>
          <a:bodyPr anchor="t">
            <a:normAutofit/>
          </a:bodyPr>
          <a:lstStyle/>
          <a:p>
            <a:r>
              <a:rPr lang="fr-FR" dirty="0"/>
              <a:t>Utilisation radio-télécommande et récepteur RF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B997DE5-8BF2-1EE6-2B0E-03BB50F95D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136" y="3416893"/>
            <a:ext cx="7775728" cy="2526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925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III- réalisation du drone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2" y="2228003"/>
            <a:ext cx="6474927" cy="3633047"/>
          </a:xfrm>
        </p:spPr>
        <p:txBody>
          <a:bodyPr anchor="t">
            <a:normAutofit/>
          </a:bodyPr>
          <a:lstStyle/>
          <a:p>
            <a:r>
              <a:rPr lang="fr-FR" dirty="0"/>
              <a:t>Régulateur PID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9AD69B03-378E-3D2B-E624-A155B9C195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982" y="3141602"/>
            <a:ext cx="8690036" cy="239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022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989FB-C56F-4DBE-8BD5-8217486E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III- réalisation du drone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D261B13-EB79-473B-96D5-121DE8B27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2" y="2228003"/>
            <a:ext cx="6474927" cy="3633047"/>
          </a:xfrm>
        </p:spPr>
        <p:txBody>
          <a:bodyPr anchor="t">
            <a:normAutofit/>
          </a:bodyPr>
          <a:lstStyle/>
          <a:p>
            <a:r>
              <a:rPr lang="fr-FR" dirty="0"/>
              <a:t>Régulateur PID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632CD5-BD5D-4D52-8704-2578DD02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AC9A9FDC-51EF-20C7-08BB-174B31E73F4C}"/>
                  </a:ext>
                </a:extLst>
              </p:cNvPr>
              <p:cNvSpPr txBox="1"/>
              <p:nvPr/>
            </p:nvSpPr>
            <p:spPr>
              <a:xfrm>
                <a:off x="957399" y="5600270"/>
                <a:ext cx="6098720" cy="7117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𝑑𝑒</m:t>
                              </m:r>
                              <m:d>
                                <m:dPr>
                                  <m:ctrlPr>
                                    <a:rPr lang="fr-FR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fr-FR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AC9A9FDC-51EF-20C7-08BB-174B31E73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99" y="5600270"/>
                <a:ext cx="6098720" cy="7117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76B71CB8-BA01-CF19-B07B-E1BC10B10C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5" y="2837162"/>
            <a:ext cx="5760720" cy="207518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A829219-EDD8-F2B4-C5B6-1D3BF4D2D1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9015" y="2076860"/>
            <a:ext cx="4604363" cy="36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856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4278D6-EA06-3BCA-8864-5030A8D50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0004811-F83D-AF56-B774-DCAECAD1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AC248C3-335D-5081-AA2B-0E9A4CCBDA2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227263"/>
            <a:ext cx="5422900" cy="340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E476C75-FA56-BC55-098D-F7E4A7C7D6D6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950" y="2227263"/>
            <a:ext cx="4845049" cy="3633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86457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AB83450-CC00-E47C-65A5-84858113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1BA1D48-4654-B4D3-461D-458F1E1F476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80860" y="453067"/>
            <a:ext cx="11029950" cy="987425"/>
          </a:xfrm>
        </p:spPr>
        <p:txBody>
          <a:bodyPr>
            <a:normAutofit/>
          </a:bodyPr>
          <a:lstStyle/>
          <a:p>
            <a:pPr algn="ctr"/>
            <a:r>
              <a:rPr lang="fr-FR" sz="3600" dirty="0">
                <a:solidFill>
                  <a:schemeClr val="tx1"/>
                </a:solidFill>
              </a:rPr>
              <a:t>Merci de votre attention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FEC703A-BE91-A5F2-D9AF-9D8DBD9AF937}"/>
              </a:ext>
            </a:extLst>
          </p:cNvPr>
          <p:cNvSpPr txBox="1">
            <a:spLocks/>
          </p:cNvSpPr>
          <p:nvPr/>
        </p:nvSpPr>
        <p:spPr>
          <a:xfrm>
            <a:off x="580860" y="5151274"/>
            <a:ext cx="11029950" cy="98742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3600" dirty="0">
                <a:solidFill>
                  <a:schemeClr val="tx1"/>
                </a:solidFill>
              </a:rPr>
              <a:t>AVEZ-VOUS des Question ?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E56E94A-46CF-3288-0601-DA623F6F5C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38" b="15743"/>
          <a:stretch/>
        </p:blipFill>
        <p:spPr bwMode="auto">
          <a:xfrm>
            <a:off x="3228810" y="1810512"/>
            <a:ext cx="5734050" cy="3158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18512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65359"/>
      </a:accent1>
      <a:accent2>
        <a:srgbClr val="ED8428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211</Words>
  <Application>Microsoft Office PowerPoint</Application>
  <PresentationFormat>Grand écran</PresentationFormat>
  <Paragraphs>77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Cambria Math</vt:lpstr>
      <vt:lpstr>Gill Sans MT</vt:lpstr>
      <vt:lpstr>Wingdings 2</vt:lpstr>
      <vt:lpstr>Dividende</vt:lpstr>
      <vt:lpstr>Projet be : réalisation d’un drone</vt:lpstr>
      <vt:lpstr>1- Schéma fonctionnel</vt:lpstr>
      <vt:lpstr>II- Anatomie du drone </vt:lpstr>
      <vt:lpstr>II- Anatomie du drone </vt:lpstr>
      <vt:lpstr>II- Anatomie du drone </vt:lpstr>
      <vt:lpstr>II- Anatomie du drone </vt:lpstr>
      <vt:lpstr>II- Anatomie du drone </vt:lpstr>
      <vt:lpstr>III- réalisation du drone</vt:lpstr>
      <vt:lpstr>III- réalisation du drone</vt:lpstr>
      <vt:lpstr>III- réalisation du drone</vt:lpstr>
      <vt:lpstr>III- réalisation du drone</vt:lpstr>
      <vt:lpstr>III- réalisation du drone</vt:lpstr>
      <vt:lpstr>III- réalisation du drone</vt:lpstr>
      <vt:lpstr>Conclusion</vt:lpstr>
      <vt:lpstr>Merci de votre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cobots</dc:title>
  <dc:creator>dinnat vincent</dc:creator>
  <cp:lastModifiedBy>Camille COTTON</cp:lastModifiedBy>
  <cp:revision>65</cp:revision>
  <dcterms:created xsi:type="dcterms:W3CDTF">2020-09-30T15:26:59Z</dcterms:created>
  <dcterms:modified xsi:type="dcterms:W3CDTF">2022-05-18T14:33:57Z</dcterms:modified>
</cp:coreProperties>
</file>