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4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5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66" r:id="rId6"/>
    <p:sldId id="278" r:id="rId7"/>
    <p:sldId id="279" r:id="rId8"/>
    <p:sldId id="263" r:id="rId9"/>
    <p:sldId id="280" r:id="rId10"/>
    <p:sldId id="267" r:id="rId11"/>
    <p:sldId id="281" r:id="rId12"/>
    <p:sldId id="283" r:id="rId13"/>
    <p:sldId id="284" r:id="rId14"/>
    <p:sldId id="290" r:id="rId15"/>
    <p:sldId id="287" r:id="rId16"/>
    <p:sldId id="289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304" r:id="rId25"/>
    <p:sldId id="303" r:id="rId26"/>
    <p:sldId id="302" r:id="rId27"/>
    <p:sldId id="276" r:id="rId28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0BD47C-1360-F614-EC11-65DEBEE05EDF}" name="Loic habert" initials="Lh" userId="9a6050d1ef0625f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947" autoAdjust="0"/>
    <p:restoredTop sz="89688" autoAdjust="0"/>
  </p:normalViewPr>
  <p:slideViewPr>
    <p:cSldViewPr snapToGrid="0">
      <p:cViewPr varScale="1">
        <p:scale>
          <a:sx n="52" d="100"/>
          <a:sy n="52" d="100"/>
        </p:scale>
        <p:origin x="72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5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0EC026C9-4C52-4B60-A858-A50E4BE56D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6160113-35DB-4BB4-9269-631D6FEB5E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A00FFB-004C-4DD3-B844-919879EB20B3}" type="datetime1">
              <a:rPr lang="fr-FR" smtClean="0"/>
              <a:t>17/05/2022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40E5BB-A291-4B94-8433-B9D3F16854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857D678-038E-42A6-961E-EAB034DB47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DE7DFA-63CC-4ED7-B30E-ACF88B4B893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0912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17T12:31:4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17T12:31:4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17T12:31:4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17T12:31:4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17T12:31:4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31B7C63-1C5E-4750-B578-54929C1B486A}" type="datetime1">
              <a:rPr lang="fr-FR" noProof="0" smtClean="0"/>
              <a:t>17/05/2022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8C5307-140F-447F-BCBA-BB92E3A2906B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331543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280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29094F-44ED-46E6-A51E-52761DD3C888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907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dirty="0"/>
              <a:t>Température: thermistance</a:t>
            </a:r>
          </a:p>
          <a:p>
            <a:pPr rtl="0"/>
            <a:r>
              <a:rPr lang="fr-FR" dirty="0"/>
              <a:t>Humidité: capteur capacitif (</a:t>
            </a:r>
            <a:r>
              <a:rPr lang="fr-FR" b="0" i="0" dirty="0">
                <a:solidFill>
                  <a:srgbClr val="282525"/>
                </a:solidFill>
                <a:effectLst/>
                <a:latin typeface="Open Sans" panose="020B0606030504020204" pitchFamily="34" charset="0"/>
              </a:rPr>
              <a:t>électrodes et un condensateur)</a:t>
            </a:r>
          </a:p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  <a:p>
            <a:pPr rtl="0"/>
            <a:r>
              <a:rPr lang="fr-FR" b="0" i="0" dirty="0">
                <a:solidFill>
                  <a:srgbClr val="282525"/>
                </a:solidFill>
                <a:effectLst/>
                <a:latin typeface="Open Sans" panose="020B0606030504020204" pitchFamily="34" charset="0"/>
              </a:rPr>
              <a:t>Interface série : pour la communication et la synchronisation</a:t>
            </a:r>
          </a:p>
          <a:p>
            <a:pPr rtl="0"/>
            <a:r>
              <a:rPr lang="fr-FR" b="0" i="0" dirty="0">
                <a:solidFill>
                  <a:srgbClr val="282525"/>
                </a:solidFill>
                <a:effectLst/>
                <a:latin typeface="Open Sans" panose="020B0606030504020204" pitchFamily="34" charset="0"/>
              </a:rPr>
              <a:t>monofilaire bidirectionnelle: dans les deux sens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555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207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Signal de démarrage: 20 ms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0135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434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b="0" i="0" dirty="0">
                <a:solidFill>
                  <a:srgbClr val="282525"/>
                </a:solidFill>
                <a:effectLst/>
                <a:latin typeface="Open Sans" panose="020B0606030504020204" pitchFamily="34" charset="0"/>
              </a:rPr>
              <a:t>Variation des jauges -&gt; Variation de R -&gt; Variation de Vs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7450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828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365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fr-FR" noProof="0" smtClean="0"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38324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83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716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fr-FR" noProof="0" smtClean="0"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3799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703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8883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449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319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1059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b="0" i="0" dirty="0">
              <a:solidFill>
                <a:srgbClr val="28252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1B3B4-A5A9-442E-B305-2C1B61528B9D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fr-F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3539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8C5307-140F-447F-BCBA-BB92E3A2906B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07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FD2957-8595-499F-896A-E9A0888D0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44A184-010C-483F-8B5A-3D1E7E6EF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8115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82A2E2-E6DD-4321-B03A-F6C071C1B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4" y="753034"/>
            <a:ext cx="6815446" cy="3887390"/>
          </a:xfrm>
        </p:spPr>
        <p:txBody>
          <a:bodyPr rtlCol="0" anchor="t">
            <a:normAutofit/>
          </a:bodyPr>
          <a:lstStyle>
            <a:lvl1pPr>
              <a:defRPr sz="8500"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D21B6D9B-E3FB-48D2-A477-5B73E2216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4640424"/>
            <a:ext cx="6437555" cy="1303176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18" name="Espace réservé d’image 16">
            <a:extLst>
              <a:ext uri="{FF2B5EF4-FFF2-40B4-BE49-F238E27FC236}">
                <a16:creationId xmlns:a16="http://schemas.microsoft.com/office/drawing/2014/main" id="{38823550-6B12-4BFD-9C91-668B623E35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3533" y="0"/>
            <a:ext cx="4082983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 dirty="0"/>
              <a:t>Cliquez pour ajouter une photo</a:t>
            </a:r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4716EF3-1422-48C0-BC49-14FAC3550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767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4" y="776941"/>
            <a:ext cx="3209008" cy="5166659"/>
          </a:xfrm>
        </p:spPr>
        <p:txBody>
          <a:bodyPr rtlCol="0" anchor="b"/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>
                <a:solidFill>
                  <a:srgbClr val="FFFFFF"/>
                </a:solidFill>
              </a:rPr>
              <a:t>Modifiez le style du titre</a:t>
            </a:r>
            <a:endParaRPr lang="fr-FR" noProof="0" dirty="0">
              <a:solidFill>
                <a:srgbClr val="FFFFFF"/>
              </a:solidFill>
            </a:endParaRP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D946F5EF-2C45-4A87-A1DD-BD2A6FB9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374904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19" name="Espace réservé d’image 16">
            <a:extLst>
              <a:ext uri="{FF2B5EF4-FFF2-40B4-BE49-F238E27FC236}">
                <a16:creationId xmlns:a16="http://schemas.microsoft.com/office/drawing/2014/main" id="{B1A8891C-A2D4-4238-ABCE-62AB3A9121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4038600" cy="3429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 dirty="0"/>
              <a:t>Cliquez pour ajouter une photo</a:t>
            </a:r>
          </a:p>
        </p:txBody>
      </p:sp>
      <p:sp>
        <p:nvSpPr>
          <p:cNvPr id="20" name="Espace réservé d’image 16">
            <a:extLst>
              <a:ext uri="{FF2B5EF4-FFF2-40B4-BE49-F238E27FC236}">
                <a16:creationId xmlns:a16="http://schemas.microsoft.com/office/drawing/2014/main" id="{7B51DFB6-C977-4551-BE38-57688D7FF0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5300" y="0"/>
            <a:ext cx="4076701" cy="3429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 dirty="0"/>
              <a:t>Cliquez pour ajouter une photo</a:t>
            </a:r>
          </a:p>
        </p:txBody>
      </p:sp>
      <p:sp>
        <p:nvSpPr>
          <p:cNvPr id="24" name="Espace réservé du texte 21">
            <a:extLst>
              <a:ext uri="{FF2B5EF4-FFF2-40B4-BE49-F238E27FC236}">
                <a16:creationId xmlns:a16="http://schemas.microsoft.com/office/drawing/2014/main" id="{DFCFAED4-0A56-424D-BF74-4051B0BDA9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4100" y="3841750"/>
            <a:ext cx="6599238" cy="2296083"/>
          </a:xfrm>
        </p:spPr>
        <p:txBody>
          <a:bodyPr rtlCol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</a:lstStyle>
          <a:p>
            <a:pPr lvl="0" rtl="0"/>
            <a:r>
              <a:rPr lang="fr-FR" noProof="0" dirty="0"/>
              <a:t>Cliquer pour ajouter du texte</a:t>
            </a:r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9188F17E-DD3B-4CCC-957F-5A691448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2A0235C7-971D-4E52-B991-EFA44A9A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D815C-8BF3-4ECF-A945-A2A7C2983AF9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3698AF-A86A-4D69-8272-76C9C191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9E2DC86-4009-449C-8F4E-779A8C762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5124"/>
            <a:ext cx="9523655" cy="1501327"/>
          </a:xfrm>
        </p:spPr>
        <p:txBody>
          <a:bodyPr rtlCol="0"/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>
                <a:solidFill>
                  <a:srgbClr val="FFFFFF"/>
                </a:solidFill>
              </a:rPr>
              <a:t>Modifiez le style du titre</a:t>
            </a:r>
          </a:p>
        </p:txBody>
      </p:sp>
      <p:sp>
        <p:nvSpPr>
          <p:cNvPr id="12" name="Espace réservé d’image 10">
            <a:extLst>
              <a:ext uri="{FF2B5EF4-FFF2-40B4-BE49-F238E27FC236}">
                <a16:creationId xmlns:a16="http://schemas.microsoft.com/office/drawing/2014/main" id="{671630E1-6506-4E93-BB6A-0604E0D049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286000"/>
            <a:ext cx="5067300" cy="4572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51BAB65B-02AF-4992-85D0-8E98AB1BD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Titre de la présentation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CFE115BC-4A4C-4385-82D5-106D1FAC3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9887" y="2899186"/>
            <a:ext cx="5610113" cy="3284359"/>
          </a:xfrm>
        </p:spPr>
        <p:txBody>
          <a:bodyPr rtlCol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5CD3EB2B-80EF-4DC6-B2B6-F4B56844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fr-FR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3DC3E33A-8A0A-4767-A4D9-CD895637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6D940D-6D44-4DF9-9322-B4B11F7EDCD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6EB31F-C5DF-49FF-8DEA-86AC0C186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7086599" cy="453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CFE912F-46EC-49B0-9C9A-DE9CBDF9F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5" y="753035"/>
            <a:ext cx="5945393" cy="2366683"/>
          </a:xfrm>
        </p:spPr>
        <p:txBody>
          <a:bodyPr rtlCol="0">
            <a:normAutofit/>
          </a:bodyPr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sz="6000" noProof="0"/>
              <a:t>Modifiez le style du titre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9BF32D81-1E24-45B8-A09D-EEAD404D8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3075868"/>
            <a:ext cx="5945393" cy="1108335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16" name="Espace réservé d’image 15">
            <a:extLst>
              <a:ext uri="{FF2B5EF4-FFF2-40B4-BE49-F238E27FC236}">
                <a16:creationId xmlns:a16="http://schemas.microsoft.com/office/drawing/2014/main" id="{9F9C7900-0694-4FDF-B29C-24016C0B9C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533900"/>
            <a:ext cx="7086598" cy="2324100"/>
          </a:xfrm>
        </p:spPr>
        <p:txBody>
          <a:bodyPr rtlCol="0"/>
          <a:lstStyle>
            <a:lvl1pPr marL="0" indent="0" algn="l">
              <a:buNone/>
              <a:defRPr/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52F1BABA-5C8C-4693-BD5A-974A1711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fr-FR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Titre de la présentation</a:t>
            </a:r>
          </a:p>
        </p:txBody>
      </p:sp>
      <p:sp>
        <p:nvSpPr>
          <p:cNvPr id="14" name="Espace réservé d’image 12">
            <a:extLst>
              <a:ext uri="{FF2B5EF4-FFF2-40B4-BE49-F238E27FC236}">
                <a16:creationId xmlns:a16="http://schemas.microsoft.com/office/drawing/2014/main" id="{D71BA6F2-2182-4910-8DA6-71E5AB2745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86600" y="0"/>
            <a:ext cx="5105400" cy="45339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17" name="Espace réservé d’image 15">
            <a:extLst>
              <a:ext uri="{FF2B5EF4-FFF2-40B4-BE49-F238E27FC236}">
                <a16:creationId xmlns:a16="http://schemas.microsoft.com/office/drawing/2014/main" id="{83DCD7D2-7B94-48E9-9DCA-E72E1BCE43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6598" y="4533900"/>
            <a:ext cx="5105402" cy="23241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94253B29-520A-4014-A821-4F52F57C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fr-FR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46B60DEE-1456-46C0-A3E5-4CAF3E12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fld id="{2722F022-211C-4882-844C-086FEA6806AA}" type="slidenum">
              <a:rPr lang="fr-FR" noProof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defRPr/>
              </a:pPr>
              <a:t>‹N°›</a:t>
            </a:fld>
            <a:endParaRPr lang="fr-FR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F4DD58-525D-4728-A769-9F38711D5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1F862FE-7A72-432B-9888-FB389D35B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788" y="875030"/>
            <a:ext cx="2384425" cy="5068570"/>
          </a:xfrm>
        </p:spPr>
        <p:txBody>
          <a:bodyPr rtlCol="0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Cliquer pour ajouter du texte</a:t>
            </a: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A256B58A-EC2F-48AB-BF2D-AB678AF0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277113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fr-FR" noProof="0"/>
              <a:t>Titre de la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D33DA1-34CB-434E-99AF-EA31D28A194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02000" y="876300"/>
            <a:ext cx="8607425" cy="4749800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fr-FR" noProof="0"/>
              <a:t>Cliquez pour ajouter du contenu</a:t>
            </a:r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DB48D9BB-04DF-4542-8DF6-C4C78753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fr-FR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F22742E1-6009-4FFB-A391-37B987F5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3FEABB-56CC-491D-830B-02C0466DA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4F3EF5A-453C-4D68-BA86-2FB1DE61C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787" y="996950"/>
            <a:ext cx="2384425" cy="4946650"/>
          </a:xfrm>
        </p:spPr>
        <p:txBody>
          <a:bodyPr rtlCol="0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du texte</a:t>
            </a: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59321BA0-41E1-404D-9063-DF281D18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277113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fr-FR" noProof="0"/>
              <a:t>Titre de la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71CEA4-8F84-4893-8A45-28DB0AE2068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2650" y="996950"/>
            <a:ext cx="8367713" cy="454501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fr-FR" noProof="0"/>
              <a:t>Cliquez pour ajouter du contenu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C99D2EA6-8453-4240-88D1-460E269D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fr-FR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02DD4984-9B40-488F-B903-2E041955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’image 22">
            <a:extLst>
              <a:ext uri="{FF2B5EF4-FFF2-40B4-BE49-F238E27FC236}">
                <a16:creationId xmlns:a16="http://schemas.microsoft.com/office/drawing/2014/main" id="{AD3C5B21-C400-4C50-8684-59543CDC43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0" cy="6858000"/>
          </a:xfrm>
          <a:noFill/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F81B040C-8943-4433-BFE9-AFB1F7C9E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636" y="-2"/>
            <a:ext cx="11014364" cy="4100947"/>
          </a:xfrm>
          <a:gradFill>
            <a:gsLst>
              <a:gs pos="77000">
                <a:srgbClr val="000000">
                  <a:alpha val="30000"/>
                </a:srgbClr>
              </a:gs>
              <a:gs pos="38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21594000" scaled="0"/>
          </a:gradFill>
        </p:spPr>
        <p:txBody>
          <a:bodyPr rIns="731520" rtlCol="0">
            <a:norm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algn="r" rtl="0"/>
            <a:r>
              <a:rPr lang="fr-FR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Modifiez le style du titre</a:t>
            </a:r>
          </a:p>
        </p:txBody>
      </p:sp>
      <p:sp>
        <p:nvSpPr>
          <p:cNvPr id="18" name="Sous-titre 2">
            <a:extLst>
              <a:ext uri="{FF2B5EF4-FFF2-40B4-BE49-F238E27FC236}">
                <a16:creationId xmlns:a16="http://schemas.microsoft.com/office/drawing/2014/main" id="{741A6711-44B3-4723-90E5-802B2DBD8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1963" y="4089656"/>
            <a:ext cx="8950035" cy="2796566"/>
          </a:xfrm>
          <a:gradFill>
            <a:gsLst>
              <a:gs pos="77000">
                <a:srgbClr val="000000">
                  <a:alpha val="30000"/>
                </a:srgbClr>
              </a:gs>
              <a:gs pos="33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21594000" scaled="0"/>
          </a:gradFill>
        </p:spPr>
        <p:txBody>
          <a:bodyPr tIns="640080" rIns="731520" rtlCol="0" anchor="t">
            <a:normAutofit/>
          </a:bodyPr>
          <a:lstStyle>
            <a:lvl1pPr marL="0" indent="0" algn="r">
              <a:buNone/>
              <a:defRPr sz="2800" b="1" baseline="0">
                <a:solidFill>
                  <a:schemeClr val="bg1"/>
                </a:solidFill>
              </a:defRPr>
            </a:lvl1pPr>
          </a:lstStyle>
          <a:p>
            <a:pPr algn="r" rtl="0"/>
            <a:r>
              <a:rPr lang="fr-FR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Modifiez le style des sous-titres du masque</a:t>
            </a: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B79A2161-66FE-4C11-AD83-5824307C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fr-FR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Titre de la présentation</a:t>
            </a:r>
          </a:p>
        </p:txBody>
      </p:sp>
      <p:sp>
        <p:nvSpPr>
          <p:cNvPr id="20" name="Espace réservé de la date 3">
            <a:extLst>
              <a:ext uri="{FF2B5EF4-FFF2-40B4-BE49-F238E27FC236}">
                <a16:creationId xmlns:a16="http://schemas.microsoft.com/office/drawing/2014/main" id="{91399727-F37D-4748-90E8-B5B6F531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fr-FR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20XX</a:t>
            </a:r>
          </a:p>
        </p:txBody>
      </p:sp>
      <p:sp>
        <p:nvSpPr>
          <p:cNvPr id="21" name="Espace réservé du numéro de diapositive 5">
            <a:extLst>
              <a:ext uri="{FF2B5EF4-FFF2-40B4-BE49-F238E27FC236}">
                <a16:creationId xmlns:a16="http://schemas.microsoft.com/office/drawing/2014/main" id="{B9DE4FD1-0950-4A6A-8167-F0E9C622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fld id="{CD6D940D-6D44-4DF9-9322-B4B11F7EDCD0}" type="slidenum">
              <a:rPr lang="fr-FR" noProof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defRPr/>
              </a:pPr>
              <a:t>‹N°›</a:t>
            </a:fld>
            <a:endParaRPr lang="fr-FR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42DEE-636F-4A79-B56A-5AF989E1F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B75C9195-04C9-4D9A-B613-44A5F5900D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983" y="194783"/>
            <a:ext cx="9421177" cy="769493"/>
          </a:xfrm>
        </p:spPr>
        <p:txBody>
          <a:bodyPr rtlCol="0" anchor="ctr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C5A662A-E279-494E-8389-ADC6E870E3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31863" y="1695450"/>
            <a:ext cx="10328275" cy="4314825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fr-FR" noProof="0"/>
              <a:t>Cliquez pour ajouter du contenu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1420B3F9-9DEF-4500-91D7-25F0B5E9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>
                <a:solidFill>
                  <a:prstClr val="black"/>
                </a:solidFill>
              </a:rPr>
              <a:t>Titre de la présentation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05E504E9-EAD2-4BE5-9736-CED43FF2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fr-FR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3EB613-AF5E-423F-A78B-94F856BF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F922A0-5527-4314-A2EA-E5CF34EF9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96EC4CB6-956E-48EB-86AC-B40D89D74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759" y="194783"/>
            <a:ext cx="10022841" cy="760892"/>
          </a:xfrm>
        </p:spPr>
        <p:txBody>
          <a:bodyPr rtlCol="0" anchor="ctr"/>
          <a:lstStyle>
            <a:lvl1pPr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13FA4250-BD33-40AE-934A-A473029C5CA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6112" y="1560513"/>
            <a:ext cx="10899776" cy="4341812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fr-FR" noProof="0"/>
              <a:t>Cliquez pour ajouter du contenu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71E7CA1-3FAA-4961-8BAC-93AB2EF6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>
                <a:solidFill>
                  <a:prstClr val="black"/>
                </a:solidFill>
              </a:rPr>
              <a:t>Titre de la présentation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520CC547-8B7E-4C4B-9B2A-04BD498A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fr-FR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34245B-9DC4-457D-AB68-8E3BBB85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7F0F480-E13D-4322-ADF4-56769DC5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9680" y="190500"/>
            <a:ext cx="10036292" cy="773776"/>
          </a:xfrm>
        </p:spPr>
        <p:txBody>
          <a:bodyPr rtlCol="0" anchor="ctr"/>
          <a:lstStyle>
            <a:lvl1pPr algn="r"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2" name="Espace réservé du texte 30">
            <a:extLst>
              <a:ext uri="{FF2B5EF4-FFF2-40B4-BE49-F238E27FC236}">
                <a16:creationId xmlns:a16="http://schemas.microsoft.com/office/drawing/2014/main" id="{7F0BA818-CA3B-46FD-9A79-7BDC1D9CA7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43" y="1764139"/>
            <a:ext cx="4756714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4EAD007E-B9BB-4C9F-BDC8-127A77F0F9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243" y="2374900"/>
            <a:ext cx="4756714" cy="33655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4" name="Espace réservé du texte 30">
            <a:extLst>
              <a:ext uri="{FF2B5EF4-FFF2-40B4-BE49-F238E27FC236}">
                <a16:creationId xmlns:a16="http://schemas.microsoft.com/office/drawing/2014/main" id="{9ECBA1DE-781A-4AA7-86CA-0EBE52A9B4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7467" y="1764031"/>
            <a:ext cx="4756714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53A9CA10-3BBC-41E7-A34E-C6CCFEC820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7467" y="2374900"/>
            <a:ext cx="4756714" cy="33655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7F3D4E9-1171-434D-AA71-EA27F72E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5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Titre de la présentation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57A29A0D-15CB-4460-9435-7E7D6453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fr-FR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8B6F95C2-7834-44D3-B93B-79D944E1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97352E-C52D-43BE-BCE2-2D71FE035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92051A8D-592F-40C1-A65D-E1F17B07C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79600" y="183988"/>
            <a:ext cx="9406372" cy="803380"/>
          </a:xfrm>
        </p:spPr>
        <p:txBody>
          <a:bodyPr rtlCol="0" anchor="ctr"/>
          <a:lstStyle>
            <a:lvl1pPr algn="r">
              <a:lnSpc>
                <a:spcPct val="100000"/>
              </a:lnSpc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8" name="Espace réservé du texte 30">
            <a:extLst>
              <a:ext uri="{FF2B5EF4-FFF2-40B4-BE49-F238E27FC236}">
                <a16:creationId xmlns:a16="http://schemas.microsoft.com/office/drawing/2014/main" id="{CF4C4703-C9D4-483C-8E41-17BB7193D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1300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4" name="Espace réservé du texte 15">
            <a:extLst>
              <a:ext uri="{FF2B5EF4-FFF2-40B4-BE49-F238E27FC236}">
                <a16:creationId xmlns:a16="http://schemas.microsoft.com/office/drawing/2014/main" id="{7393281D-B77A-4BB8-A3E2-49E0F1259D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193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texte 30">
            <a:extLst>
              <a:ext uri="{FF2B5EF4-FFF2-40B4-BE49-F238E27FC236}">
                <a16:creationId xmlns:a16="http://schemas.microsoft.com/office/drawing/2014/main" id="{6B205DED-723B-48E3-AE9F-556696225C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2317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77D63D24-8466-44F3-898F-5CBC42C768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2317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0" name="Espace réservé du texte 30">
            <a:extLst>
              <a:ext uri="{FF2B5EF4-FFF2-40B4-BE49-F238E27FC236}">
                <a16:creationId xmlns:a16="http://schemas.microsoft.com/office/drawing/2014/main" id="{F600D1D1-B6A8-4A4E-BC6A-897FE089CB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5393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205F643-67E9-4E41-A65F-163C81609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25393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" name="Espace réservé du pied de page 4">
            <a:extLst>
              <a:ext uri="{FF2B5EF4-FFF2-40B4-BE49-F238E27FC236}">
                <a16:creationId xmlns:a16="http://schemas.microsoft.com/office/drawing/2014/main" id="{B0EF04CC-F1B1-495C-BA2F-F28A5D97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5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Titre de la présentation</a:t>
            </a: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657B66A6-EBC5-4A75-B938-7148B7A126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fr-FR" noProof="0">
                <a:solidFill>
                  <a:prstClr val="black"/>
                </a:solidFill>
              </a:rPr>
              <a:t>20XX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D83DD707-C769-4868-9B2F-1BF7ABBCD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rme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52F41C-45C5-4E09-A91A-8F4AE80B0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33900"/>
            <a:ext cx="9144000" cy="23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re 6">
            <a:extLst>
              <a:ext uri="{FF2B5EF4-FFF2-40B4-BE49-F238E27FC236}">
                <a16:creationId xmlns:a16="http://schemas.microsoft.com/office/drawing/2014/main" id="{DA9EBEF3-E8A8-4C5C-B6D9-B322242DC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01" y="4947313"/>
            <a:ext cx="7700617" cy="1409037"/>
          </a:xfrm>
        </p:spPr>
        <p:txBody>
          <a:bodyPr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sz="5400" noProof="0"/>
              <a:t>Modifiez le style du titre</a:t>
            </a:r>
          </a:p>
        </p:txBody>
      </p:sp>
      <p:sp>
        <p:nvSpPr>
          <p:cNvPr id="11" name="Sous-titre 7">
            <a:extLst>
              <a:ext uri="{FF2B5EF4-FFF2-40B4-BE49-F238E27FC236}">
                <a16:creationId xmlns:a16="http://schemas.microsoft.com/office/drawing/2014/main" id="{6A90C83B-4674-4CF1-9CD4-78C3B7CDC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6252" y="386989"/>
            <a:ext cx="2443495" cy="3758334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>
                <a:solidFill>
                  <a:schemeClr val="accent1"/>
                </a:solidFill>
              </a:rPr>
              <a:t>Modifiez le style des sous-titres du masque</a:t>
            </a:r>
          </a:p>
        </p:txBody>
      </p:sp>
      <p:sp>
        <p:nvSpPr>
          <p:cNvPr id="19" name="Espace réservé d’image 17">
            <a:extLst>
              <a:ext uri="{FF2B5EF4-FFF2-40B4-BE49-F238E27FC236}">
                <a16:creationId xmlns:a16="http://schemas.microsoft.com/office/drawing/2014/main" id="{1894E094-44B9-4024-A43A-438DEB225D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532313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9BCFB5F5-AD25-4F9C-8AE7-E0E891F1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Titre de la présentation</a:t>
            </a:r>
          </a:p>
        </p:txBody>
      </p:sp>
      <p:sp>
        <p:nvSpPr>
          <p:cNvPr id="23" name="Espace réservé d’image 20">
            <a:extLst>
              <a:ext uri="{FF2B5EF4-FFF2-40B4-BE49-F238E27FC236}">
                <a16:creationId xmlns:a16="http://schemas.microsoft.com/office/drawing/2014/main" id="{919568B3-FE67-4E6E-BA92-FEF29CBFE1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44000" y="4532313"/>
            <a:ext cx="3048000" cy="2325687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87D4A75-1737-4D5B-A386-9FE32DFB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B52AA41-FD0C-42C6-BD04-9E5B55A48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244D815C-8BF3-4ECF-A945-A2A7C2983AF9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3467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sz="1050" noProof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pPr rtl="0"/>
            <a:fld id="{0D4885A8-DDA8-4FCF-AB25-DA8F78EC7557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la-ruche-sauvage.com/ruches-diy/" TargetMode="External"/><Relationship Id="rId4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98D150CF-F888-48EA-89E8-311ED5E91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4" y="753034"/>
            <a:ext cx="6815446" cy="3887390"/>
          </a:xfrm>
        </p:spPr>
        <p:txBody>
          <a:bodyPr rtlCol="0"/>
          <a:lstStyle/>
          <a:p>
            <a:pPr rtl="0"/>
            <a:r>
              <a:rPr lang="fr-FR" dirty="0"/>
              <a:t>Ruche</a:t>
            </a:r>
            <a:br>
              <a:rPr lang="fr-FR" dirty="0"/>
            </a:br>
            <a:r>
              <a:rPr lang="fr-FR" dirty="0"/>
              <a:t>Connectée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6BBE0348-1527-4055-BA8A-E27542227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4640424"/>
            <a:ext cx="6437555" cy="1303176"/>
          </a:xfrm>
        </p:spPr>
        <p:txBody>
          <a:bodyPr rtlCol="0"/>
          <a:lstStyle/>
          <a:p>
            <a:pPr rtl="0"/>
            <a:r>
              <a:rPr lang="fr-FR" dirty="0"/>
              <a:t>HABERT HOYO</a:t>
            </a:r>
          </a:p>
        </p:txBody>
      </p:sp>
      <p:pic>
        <p:nvPicPr>
          <p:cNvPr id="16" name="Espace réservé pour une image  15" descr="Une image contenant extérieur, en bois, conteneur, vieux&#10;&#10;Description générée automatiquement">
            <a:extLst>
              <a:ext uri="{FF2B5EF4-FFF2-40B4-BE49-F238E27FC236}">
                <a16:creationId xmlns:a16="http://schemas.microsoft.com/office/drawing/2014/main" id="{70998074-B0D4-1A71-0B93-3A9B16E1E1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391" r="143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2071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4">
            <a:extLst>
              <a:ext uri="{FF2B5EF4-FFF2-40B4-BE49-F238E27FC236}">
                <a16:creationId xmlns:a16="http://schemas.microsoft.com/office/drawing/2014/main" id="{8DED76B9-5273-4139-ACC9-B6E36ADE2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4" y="776941"/>
            <a:ext cx="3209008" cy="5166659"/>
          </a:xfrm>
        </p:spPr>
        <p:txBody>
          <a:bodyPr rtlCol="0"/>
          <a:lstStyle/>
          <a:p>
            <a:pPr rtl="0"/>
            <a:r>
              <a:rPr lang="fr-FR" dirty="0"/>
              <a:t>Sommaire</a:t>
            </a:r>
          </a:p>
        </p:txBody>
      </p:sp>
      <p:sp>
        <p:nvSpPr>
          <p:cNvPr id="20" name="Espace réservé du pied de page 19">
            <a:extLst>
              <a:ext uri="{FF2B5EF4-FFF2-40B4-BE49-F238E27FC236}">
                <a16:creationId xmlns:a16="http://schemas.microsoft.com/office/drawing/2014/main" id="{6DB8AAF6-0D0C-4F4F-A10E-6A66E4A7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277" y="6356350"/>
            <a:ext cx="3749040" cy="365125"/>
          </a:xfrm>
        </p:spPr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7F2C169-25EA-4609-BC8A-BCA7C433EE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4100" y="3841750"/>
            <a:ext cx="6599238" cy="2296083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Capteur de température et d’humidité</a:t>
            </a:r>
          </a:p>
          <a:p>
            <a:pPr rtl="0"/>
            <a:r>
              <a:rPr lang="fr-FR" dirty="0"/>
              <a:t>Capteur de masse</a:t>
            </a:r>
          </a:p>
          <a:p>
            <a:pPr rtl="0"/>
            <a:r>
              <a:rPr lang="fr-FR" dirty="0"/>
              <a:t>Module Lora</a:t>
            </a:r>
          </a:p>
          <a:p>
            <a:pPr rtl="0"/>
            <a:r>
              <a:rPr lang="fr-FR" dirty="0"/>
              <a:t>Wi-Fi et serveur</a:t>
            </a:r>
          </a:p>
        </p:txBody>
      </p:sp>
      <p:sp>
        <p:nvSpPr>
          <p:cNvPr id="19" name="Espace réservé de la date 18">
            <a:extLst>
              <a:ext uri="{FF2B5EF4-FFF2-40B4-BE49-F238E27FC236}">
                <a16:creationId xmlns:a16="http://schemas.microsoft.com/office/drawing/2014/main" id="{CE93697D-BFA2-4D84-A860-BA62041441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/>
          <a:p>
            <a:endParaRPr lang="fr-FR" noProof="0" dirty="0">
              <a:solidFill>
                <a:prstClr val="black"/>
              </a:solidFill>
            </a:endParaRP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C19BFBA5-3E41-40F8-9EFB-9DF730F5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lvl="0" rtl="0"/>
            <a:fld id="{244D815C-8BF3-4ECF-A945-A2A7C2983AF9}" type="slidenum">
              <a:rPr lang="fr-FR" smtClean="0"/>
              <a:pPr lvl="0"/>
              <a:t>2</a:t>
            </a:fld>
            <a:endParaRPr lang="fr-FR"/>
          </a:p>
        </p:txBody>
      </p:sp>
      <p:pic>
        <p:nvPicPr>
          <p:cNvPr id="8" name="Espace réservé pour une image  7" descr="Une image contenant équipement électronique&#10;&#10;Description générée automatiquement">
            <a:extLst>
              <a:ext uri="{FF2B5EF4-FFF2-40B4-BE49-F238E27FC236}">
                <a16:creationId xmlns:a16="http://schemas.microsoft.com/office/drawing/2014/main" id="{D301220E-C4A4-6522-6CB2-8BB793C8B2A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7547" b="7547"/>
          <a:stretch>
            <a:fillRect/>
          </a:stretch>
        </p:blipFill>
        <p:spPr/>
      </p:pic>
      <p:pic>
        <p:nvPicPr>
          <p:cNvPr id="29" name="Espace réservé pour une image  28" descr="Une image contenant équipement électronique, circuit&#10;&#10;Description générée automatiquement">
            <a:extLst>
              <a:ext uri="{FF2B5EF4-FFF2-40B4-BE49-F238E27FC236}">
                <a16:creationId xmlns:a16="http://schemas.microsoft.com/office/drawing/2014/main" id="{C805EC32-8549-A75E-05EC-EAEB3BC4036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7944" b="79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6347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8CDF1-5556-1F7F-CA71-1292E1EF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Analyse fonctionnelle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A96EC0-D45A-3893-7085-9F61CF13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F12050-CB2D-E655-0A6E-AB08558A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44D678-C44C-94FB-22F4-34A1535A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14:cNvPr>
              <p14:cNvContentPartPr/>
              <p14:nvPr/>
            </p14:nvContentPartPr>
            <p14:xfrm>
              <a:off x="2946180" y="1701340"/>
              <a:ext cx="360" cy="3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7180" y="1692700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18E7E264-2508-17D8-5F5C-945844426796}"/>
              </a:ext>
            </a:extLst>
          </p:cNvPr>
          <p:cNvCxnSpPr>
            <a:cxnSpLocks/>
            <a:stCxn id="19" idx="2"/>
            <a:endCxn id="48" idx="0"/>
          </p:cNvCxnSpPr>
          <p:nvPr/>
        </p:nvCxnSpPr>
        <p:spPr>
          <a:xfrm>
            <a:off x="2156966" y="4329008"/>
            <a:ext cx="0" cy="778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 : en angle 80">
            <a:extLst>
              <a:ext uri="{FF2B5EF4-FFF2-40B4-BE49-F238E27FC236}">
                <a16:creationId xmlns:a16="http://schemas.microsoft.com/office/drawing/2014/main" id="{B206C8D6-9E6F-5936-D56B-1D874222C863}"/>
              </a:ext>
            </a:extLst>
          </p:cNvPr>
          <p:cNvCxnSpPr/>
          <p:nvPr/>
        </p:nvCxnSpPr>
        <p:spPr>
          <a:xfrm flipV="1">
            <a:off x="11608839" y="1581532"/>
            <a:ext cx="153481" cy="5332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7E56C781-D36D-5F81-545C-CBC56C15C011}"/>
              </a:ext>
            </a:extLst>
          </p:cNvPr>
          <p:cNvCxnSpPr/>
          <p:nvPr/>
        </p:nvCxnSpPr>
        <p:spPr>
          <a:xfrm flipV="1">
            <a:off x="11760732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5C70F08-4521-B283-0172-2B916D7E7BAC}"/>
              </a:ext>
            </a:extLst>
          </p:cNvPr>
          <p:cNvCxnSpPr>
            <a:cxnSpLocks/>
          </p:cNvCxnSpPr>
          <p:nvPr/>
        </p:nvCxnSpPr>
        <p:spPr>
          <a:xfrm>
            <a:off x="11623195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240AB56C-5FBB-D1B6-7D3C-D605B88E8A60}"/>
              </a:ext>
            </a:extLst>
          </p:cNvPr>
          <p:cNvGrpSpPr/>
          <p:nvPr/>
        </p:nvGrpSpPr>
        <p:grpSpPr>
          <a:xfrm>
            <a:off x="429766" y="1967814"/>
            <a:ext cx="11164825" cy="4119882"/>
            <a:chOff x="429766" y="1967814"/>
            <a:chExt cx="11164825" cy="4119882"/>
          </a:xfrm>
        </p:grpSpPr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848E44C1-4F57-4032-FA38-3730227E1EFB}"/>
                </a:ext>
              </a:extLst>
            </p:cNvPr>
            <p:cNvGrpSpPr/>
            <p:nvPr/>
          </p:nvGrpSpPr>
          <p:grpSpPr>
            <a:xfrm>
              <a:off x="429766" y="1967814"/>
              <a:ext cx="11164825" cy="4119882"/>
              <a:chOff x="201167" y="2235198"/>
              <a:chExt cx="11164825" cy="411988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02D53AF-7FEE-15D9-43BC-D230DFF744F3}"/>
                  </a:ext>
                </a:extLst>
              </p:cNvPr>
              <p:cNvSpPr/>
              <p:nvPr/>
            </p:nvSpPr>
            <p:spPr>
              <a:xfrm>
                <a:off x="201167" y="2235198"/>
                <a:ext cx="2230747" cy="119236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Capteur Température et Humidité DHT11</a:t>
                </a:r>
              </a:p>
            </p:txBody>
          </p:sp>
          <p:grpSp>
            <p:nvGrpSpPr>
              <p:cNvPr id="79" name="Groupe 78">
                <a:extLst>
                  <a:ext uri="{FF2B5EF4-FFF2-40B4-BE49-F238E27FC236}">
                    <a16:creationId xmlns:a16="http://schemas.microsoft.com/office/drawing/2014/main" id="{8087C346-6409-0BF6-153B-38119E28CBA1}"/>
                  </a:ext>
                </a:extLst>
              </p:cNvPr>
              <p:cNvGrpSpPr/>
              <p:nvPr/>
            </p:nvGrpSpPr>
            <p:grpSpPr>
              <a:xfrm>
                <a:off x="201167" y="2235198"/>
                <a:ext cx="11164825" cy="4119882"/>
                <a:chOff x="201167" y="2235198"/>
                <a:chExt cx="11164825" cy="4119882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A75A4CA-DC6D-A75D-5739-9D587D411B5C}"/>
                    </a:ext>
                  </a:extLst>
                </p:cNvPr>
                <p:cNvSpPr/>
                <p:nvPr/>
              </p:nvSpPr>
              <p:spPr>
                <a:xfrm>
                  <a:off x="3599234" y="2235200"/>
                  <a:ext cx="1911486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Emetteur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B3450AD-CB08-A62F-5BE6-43613B2DBCF1}"/>
                    </a:ext>
                  </a:extLst>
                </p:cNvPr>
                <p:cNvSpPr/>
                <p:nvPr/>
              </p:nvSpPr>
              <p:spPr>
                <a:xfrm>
                  <a:off x="6681282" y="2235200"/>
                  <a:ext cx="1956880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Récepteur</a:t>
                  </a:r>
                </a:p>
              </p:txBody>
            </p:sp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2F861443-DB94-7E2E-E7DE-17BDCFD9B987}"/>
                    </a:ext>
                  </a:extLst>
                </p:cNvPr>
                <p:cNvSpPr txBox="1"/>
                <p:nvPr/>
              </p:nvSpPr>
              <p:spPr>
                <a:xfrm>
                  <a:off x="2517572" y="2510865"/>
                  <a:ext cx="13853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400" dirty="0"/>
                    <a:t>One Wire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FD07E46-DDCC-94FD-DAA5-05B7C0F2F91F}"/>
                    </a:ext>
                  </a:extLst>
                </p:cNvPr>
                <p:cNvSpPr/>
                <p:nvPr/>
              </p:nvSpPr>
              <p:spPr>
                <a:xfrm>
                  <a:off x="201167" y="4128942"/>
                  <a:ext cx="3454400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Module amplificateur HX711</a:t>
                  </a:r>
                </a:p>
              </p:txBody>
            </p:sp>
            <p:cxnSp>
              <p:nvCxnSpPr>
                <p:cNvPr id="30" name="Connecteur : en angle 29">
                  <a:extLst>
                    <a:ext uri="{FF2B5EF4-FFF2-40B4-BE49-F238E27FC236}">
                      <a16:creationId xmlns:a16="http://schemas.microsoft.com/office/drawing/2014/main" id="{64063B75-AA0A-4256-46EC-ADF166650BF7}"/>
                    </a:ext>
                  </a:extLst>
                </p:cNvPr>
                <p:cNvCxnSpPr>
                  <a:cxnSpLocks/>
                  <a:stCxn id="19" idx="0"/>
                  <a:endCxn id="13" idx="2"/>
                </p:cNvCxnSpPr>
                <p:nvPr/>
              </p:nvCxnSpPr>
              <p:spPr>
                <a:xfrm rot="5400000" flipH="1" flipV="1">
                  <a:off x="2890981" y="2464946"/>
                  <a:ext cx="701382" cy="2626610"/>
                </a:xfrm>
                <a:prstGeom prst="bentConnector3">
                  <a:avLst>
                    <a:gd name="adj1" fmla="val 32160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1918DCB-2F49-46E5-0056-46509493AD0A}"/>
                    </a:ext>
                  </a:extLst>
                </p:cNvPr>
                <p:cNvSpPr/>
                <p:nvPr/>
              </p:nvSpPr>
              <p:spPr>
                <a:xfrm>
                  <a:off x="3599233" y="5366831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35" name="Connecteur : en angle 34">
                  <a:extLst>
                    <a:ext uri="{FF2B5EF4-FFF2-40B4-BE49-F238E27FC236}">
                      <a16:creationId xmlns:a16="http://schemas.microsoft.com/office/drawing/2014/main" id="{A45AD8C1-4686-41ED-445B-75BDBCABD766}"/>
                    </a:ext>
                  </a:extLst>
                </p:cNvPr>
                <p:cNvCxnSpPr>
                  <a:cxnSpLocks/>
                  <a:stCxn id="33" idx="0"/>
                  <a:endCxn id="13" idx="3"/>
                </p:cNvCxnSpPr>
                <p:nvPr/>
              </p:nvCxnSpPr>
              <p:spPr>
                <a:xfrm rot="5400000" flipH="1" flipV="1">
                  <a:off x="3765123" y="3621234"/>
                  <a:ext cx="2535451" cy="955744"/>
                </a:xfrm>
                <a:prstGeom prst="bentConnector4">
                  <a:avLst>
                    <a:gd name="adj1" fmla="val 38243"/>
                    <a:gd name="adj2" fmla="val 123919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2073F90-BB4B-521D-833E-7BFE0A20CC5D}"/>
                    </a:ext>
                  </a:extLst>
                </p:cNvPr>
                <p:cNvSpPr/>
                <p:nvPr/>
              </p:nvSpPr>
              <p:spPr>
                <a:xfrm>
                  <a:off x="6681282" y="5372585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43" name="Connecteur : en angle 42">
                  <a:extLst>
                    <a:ext uri="{FF2B5EF4-FFF2-40B4-BE49-F238E27FC236}">
                      <a16:creationId xmlns:a16="http://schemas.microsoft.com/office/drawing/2014/main" id="{ACF21B50-2186-CA52-8EBC-370F01002670}"/>
                    </a:ext>
                  </a:extLst>
                </p:cNvPr>
                <p:cNvCxnSpPr>
                  <a:cxnSpLocks/>
                  <a:stCxn id="39" idx="0"/>
                  <a:endCxn id="14" idx="1"/>
                </p:cNvCxnSpPr>
                <p:nvPr/>
              </p:nvCxnSpPr>
              <p:spPr>
                <a:xfrm rot="16200000" flipV="1">
                  <a:off x="5888552" y="3624111"/>
                  <a:ext cx="2541205" cy="955743"/>
                </a:xfrm>
                <a:prstGeom prst="bentConnector4">
                  <a:avLst>
                    <a:gd name="adj1" fmla="val 38270"/>
                    <a:gd name="adj2" fmla="val 123919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0B59EB-3C61-9ECC-BDD4-34D72FB26A50}"/>
                    </a:ext>
                  </a:extLst>
                </p:cNvPr>
                <p:cNvSpPr/>
                <p:nvPr/>
              </p:nvSpPr>
              <p:spPr>
                <a:xfrm>
                  <a:off x="812993" y="5374428"/>
                  <a:ext cx="2230747" cy="980652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Barre de contrainte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937785A-0F24-0F96-1F56-42808F3C298C}"/>
                    </a:ext>
                  </a:extLst>
                </p:cNvPr>
                <p:cNvSpPr/>
                <p:nvPr/>
              </p:nvSpPr>
              <p:spPr>
                <a:xfrm>
                  <a:off x="9409112" y="2235198"/>
                  <a:ext cx="1956880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Emetteur Wi-Fi</a:t>
                  </a:r>
                </a:p>
                <a:p>
                  <a:pPr algn="ctr"/>
                  <a:r>
                    <a:rPr lang="fr-FR" dirty="0"/>
                    <a:t>ESP8266-13</a:t>
                  </a:r>
                </a:p>
              </p:txBody>
            </p:sp>
            <p:cxnSp>
              <p:nvCxnSpPr>
                <p:cNvPr id="56" name="Connecteur droit 55">
                  <a:extLst>
                    <a:ext uri="{FF2B5EF4-FFF2-40B4-BE49-F238E27FC236}">
                      <a16:creationId xmlns:a16="http://schemas.microsoft.com/office/drawing/2014/main" id="{7991FBB1-04D3-3A12-DD3D-390A78FE94F6}"/>
                    </a:ext>
                  </a:extLst>
                </p:cNvPr>
                <p:cNvCxnSpPr>
                  <a:stCxn id="14" idx="3"/>
                  <a:endCxn id="54" idx="1"/>
                </p:cNvCxnSpPr>
                <p:nvPr/>
              </p:nvCxnSpPr>
              <p:spPr>
                <a:xfrm flipV="1">
                  <a:off x="8638162" y="2831378"/>
                  <a:ext cx="770950" cy="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Groupe 65">
                  <a:extLst>
                    <a:ext uri="{FF2B5EF4-FFF2-40B4-BE49-F238E27FC236}">
                      <a16:creationId xmlns:a16="http://schemas.microsoft.com/office/drawing/2014/main" id="{51E19F57-A1EE-FE68-64BB-2D49404A7281}"/>
                    </a:ext>
                  </a:extLst>
                </p:cNvPr>
                <p:cNvGrpSpPr/>
                <p:nvPr/>
              </p:nvGrpSpPr>
              <p:grpSpPr>
                <a:xfrm>
                  <a:off x="5510719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59" name="Connecteur : en angle 58">
                    <a:extLst>
                      <a:ext uri="{FF2B5EF4-FFF2-40B4-BE49-F238E27FC236}">
                        <a16:creationId xmlns:a16="http://schemas.microsoft.com/office/drawing/2014/main" id="{B032A15A-D4E8-A702-A298-F642BBEFAF53}"/>
                      </a:ext>
                    </a:extLst>
                  </p:cNvPr>
                  <p:cNvCxnSpPr>
                    <a:stCxn id="33" idx="3"/>
                  </p:cNvCxnSpPr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Connecteur droit 63">
                    <a:extLst>
                      <a:ext uri="{FF2B5EF4-FFF2-40B4-BE49-F238E27FC236}">
                        <a16:creationId xmlns:a16="http://schemas.microsoft.com/office/drawing/2014/main" id="{8764BF13-17C5-BC6C-1E42-A6F4EC1A2E9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Connecteur droit 64">
                    <a:extLst>
                      <a:ext uri="{FF2B5EF4-FFF2-40B4-BE49-F238E27FC236}">
                        <a16:creationId xmlns:a16="http://schemas.microsoft.com/office/drawing/2014/main" id="{BAF46ED1-84D5-ADDA-1BD8-20FA05FF4B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e 66">
                  <a:extLst>
                    <a:ext uri="{FF2B5EF4-FFF2-40B4-BE49-F238E27FC236}">
                      <a16:creationId xmlns:a16="http://schemas.microsoft.com/office/drawing/2014/main" id="{B47DD015-96D8-4B6D-F860-D55B4D4972AD}"/>
                    </a:ext>
                  </a:extLst>
                </p:cNvPr>
                <p:cNvGrpSpPr/>
                <p:nvPr/>
              </p:nvGrpSpPr>
              <p:grpSpPr>
                <a:xfrm flipH="1">
                  <a:off x="6379048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68" name="Connecteur : en angle 67">
                    <a:extLst>
                      <a:ext uri="{FF2B5EF4-FFF2-40B4-BE49-F238E27FC236}">
                        <a16:creationId xmlns:a16="http://schemas.microsoft.com/office/drawing/2014/main" id="{F6584A0D-6586-A779-056F-6AA895C4971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Connecteur droit 68">
                    <a:extLst>
                      <a:ext uri="{FF2B5EF4-FFF2-40B4-BE49-F238E27FC236}">
                        <a16:creationId xmlns:a16="http://schemas.microsoft.com/office/drawing/2014/main" id="{1EEA6EF5-56B1-DDD0-FC50-36FE996A070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Connecteur droit 69">
                    <a:extLst>
                      <a:ext uri="{FF2B5EF4-FFF2-40B4-BE49-F238E27FC236}">
                        <a16:creationId xmlns:a16="http://schemas.microsoft.com/office/drawing/2014/main" id="{291E4567-A46C-8563-E7DD-74CBA0C02D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1" name="ZoneTexte 70">
                  <a:extLst>
                    <a:ext uri="{FF2B5EF4-FFF2-40B4-BE49-F238E27FC236}">
                      <a16:creationId xmlns:a16="http://schemas.microsoft.com/office/drawing/2014/main" id="{445A81A3-7D73-C61A-631E-97C97DB832E2}"/>
                    </a:ext>
                  </a:extLst>
                </p:cNvPr>
                <p:cNvSpPr txBox="1"/>
                <p:nvPr/>
              </p:nvSpPr>
              <p:spPr>
                <a:xfrm>
                  <a:off x="2507037" y="3600412"/>
                  <a:ext cx="101707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SDA / SCL</a:t>
                  </a:r>
                </a:p>
              </p:txBody>
            </p:sp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B3F1C0CD-C44D-32CE-06E4-7E13349EAC32}"/>
                    </a:ext>
                  </a:extLst>
                </p:cNvPr>
                <p:cNvSpPr txBox="1"/>
                <p:nvPr/>
              </p:nvSpPr>
              <p:spPr>
                <a:xfrm rot="5400000">
                  <a:off x="1558921" y="4974625"/>
                  <a:ext cx="98065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/>
                    <a:t>Analogique</a:t>
                  </a:r>
                </a:p>
              </p:txBody>
            </p:sp>
            <p:sp>
              <p:nvSpPr>
                <p:cNvPr id="74" name="ZoneTexte 73">
                  <a:extLst>
                    <a:ext uri="{FF2B5EF4-FFF2-40B4-BE49-F238E27FC236}">
                      <a16:creationId xmlns:a16="http://schemas.microsoft.com/office/drawing/2014/main" id="{4587EF80-66A3-A02F-EFE2-6A74411F2C1E}"/>
                    </a:ext>
                  </a:extLst>
                </p:cNvPr>
                <p:cNvSpPr txBox="1"/>
                <p:nvPr/>
              </p:nvSpPr>
              <p:spPr>
                <a:xfrm>
                  <a:off x="482612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5" name="ZoneTexte 74">
                  <a:extLst>
                    <a:ext uri="{FF2B5EF4-FFF2-40B4-BE49-F238E27FC236}">
                      <a16:creationId xmlns:a16="http://schemas.microsoft.com/office/drawing/2014/main" id="{0C34C450-3C31-57F2-E276-FA4B81CCB34A}"/>
                    </a:ext>
                  </a:extLst>
                </p:cNvPr>
                <p:cNvSpPr txBox="1"/>
                <p:nvPr/>
              </p:nvSpPr>
              <p:spPr>
                <a:xfrm>
                  <a:off x="679527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176E8A98-1AE3-A4C5-4B88-2F7C4A8F42C6}"/>
                    </a:ext>
                  </a:extLst>
                </p:cNvPr>
                <p:cNvSpPr txBox="1"/>
                <p:nvPr/>
              </p:nvSpPr>
              <p:spPr>
                <a:xfrm>
                  <a:off x="8836727" y="2510864"/>
                  <a:ext cx="37382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Tx</a:t>
                  </a:r>
                  <a:endParaRPr lang="fr-FR" dirty="0"/>
                </a:p>
              </p:txBody>
            </p:sp>
            <p:cxnSp>
              <p:nvCxnSpPr>
                <p:cNvPr id="78" name="Connecteur droit 77">
                  <a:extLst>
                    <a:ext uri="{FF2B5EF4-FFF2-40B4-BE49-F238E27FC236}">
                      <a16:creationId xmlns:a16="http://schemas.microsoft.com/office/drawing/2014/main" id="{1831A272-E146-A1CB-C83E-127C5F435726}"/>
                    </a:ext>
                  </a:extLst>
                </p:cNvPr>
                <p:cNvCxnSpPr>
                  <a:stCxn id="15" idx="3"/>
                  <a:endCxn id="13" idx="1"/>
                </p:cNvCxnSpPr>
                <p:nvPr/>
              </p:nvCxnSpPr>
              <p:spPr>
                <a:xfrm>
                  <a:off x="2431914" y="2831378"/>
                  <a:ext cx="1167320" cy="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6" name="Groupe 95">
              <a:extLst>
                <a:ext uri="{FF2B5EF4-FFF2-40B4-BE49-F238E27FC236}">
                  <a16:creationId xmlns:a16="http://schemas.microsoft.com/office/drawing/2014/main" id="{01A3602B-079B-EB25-B1A3-D61D3F2B8DF0}"/>
                </a:ext>
              </a:extLst>
            </p:cNvPr>
            <p:cNvGrpSpPr/>
            <p:nvPr/>
          </p:nvGrpSpPr>
          <p:grpSpPr>
            <a:xfrm>
              <a:off x="9848849" y="3557454"/>
              <a:ext cx="1544474" cy="1774868"/>
              <a:chOff x="9848849" y="3557454"/>
              <a:chExt cx="1544474" cy="1774868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49AC8BF-480D-FB47-8081-3011819B05E5}"/>
                  </a:ext>
                </a:extLst>
              </p:cNvPr>
              <p:cNvSpPr/>
              <p:nvPr/>
            </p:nvSpPr>
            <p:spPr>
              <a:xfrm>
                <a:off x="9848849" y="3925817"/>
                <a:ext cx="1245443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Accès internet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66E4DCB-817E-AEC6-015D-BED770C9360C}"/>
                  </a:ext>
                </a:extLst>
              </p:cNvPr>
              <p:cNvSpPr/>
              <p:nvPr/>
            </p:nvSpPr>
            <p:spPr>
              <a:xfrm>
                <a:off x="9848849" y="4770149"/>
                <a:ext cx="1245444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Serveur Google</a:t>
                </a:r>
              </a:p>
            </p:txBody>
          </p:sp>
          <p:cxnSp>
            <p:nvCxnSpPr>
              <p:cNvPr id="90" name="Connecteur : en angle 89">
                <a:extLst>
                  <a:ext uri="{FF2B5EF4-FFF2-40B4-BE49-F238E27FC236}">
                    <a16:creationId xmlns:a16="http://schemas.microsoft.com/office/drawing/2014/main" id="{5ADACB5C-F31A-9E79-D431-3D334243A583}"/>
                  </a:ext>
                </a:extLst>
              </p:cNvPr>
              <p:cNvCxnSpPr/>
              <p:nvPr/>
            </p:nvCxnSpPr>
            <p:spPr>
              <a:xfrm flipV="1">
                <a:off x="11100142" y="3557454"/>
                <a:ext cx="153481" cy="533256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eur droit 90">
                <a:extLst>
                  <a:ext uri="{FF2B5EF4-FFF2-40B4-BE49-F238E27FC236}">
                    <a16:creationId xmlns:a16="http://schemas.microsoft.com/office/drawing/2014/main" id="{E3138B4C-084E-4555-FC71-7D93EA82AD1F}"/>
                  </a:ext>
                </a:extLst>
              </p:cNvPr>
              <p:cNvCxnSpPr/>
              <p:nvPr/>
            </p:nvCxnSpPr>
            <p:spPr>
              <a:xfrm flipV="1">
                <a:off x="11252035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necteur droit 91">
                <a:extLst>
                  <a:ext uri="{FF2B5EF4-FFF2-40B4-BE49-F238E27FC236}">
                    <a16:creationId xmlns:a16="http://schemas.microsoft.com/office/drawing/2014/main" id="{6858DFF6-8BF7-3C40-7170-1D27B331E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14498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necteur droit 94">
                <a:extLst>
                  <a:ext uri="{FF2B5EF4-FFF2-40B4-BE49-F238E27FC236}">
                    <a16:creationId xmlns:a16="http://schemas.microsoft.com/office/drawing/2014/main" id="{C9ED36FC-D7E8-C202-1979-3F8743D6B7DB}"/>
                  </a:ext>
                </a:extLst>
              </p:cNvPr>
              <p:cNvCxnSpPr>
                <a:stCxn id="86" idx="0"/>
                <a:endCxn id="84" idx="2"/>
              </p:cNvCxnSpPr>
              <p:nvPr/>
            </p:nvCxnSpPr>
            <p:spPr>
              <a:xfrm flipV="1">
                <a:off x="10471571" y="4487990"/>
                <a:ext cx="0" cy="2821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4559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8CDF1-5556-1F7F-CA71-1292E1EF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Analyse fonctionnelle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A96EC0-D45A-3893-7085-9F61CF13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F12050-CB2D-E655-0A6E-AB08558A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44D678-C44C-94FB-22F4-34A1535A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14:cNvPr>
              <p14:cNvContentPartPr/>
              <p14:nvPr/>
            </p14:nvContentPartPr>
            <p14:xfrm>
              <a:off x="2946180" y="1701340"/>
              <a:ext cx="360" cy="3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7180" y="1692700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18E7E264-2508-17D8-5F5C-945844426796}"/>
              </a:ext>
            </a:extLst>
          </p:cNvPr>
          <p:cNvCxnSpPr>
            <a:cxnSpLocks/>
            <a:stCxn id="19" idx="2"/>
            <a:endCxn id="48" idx="0"/>
          </p:cNvCxnSpPr>
          <p:nvPr/>
        </p:nvCxnSpPr>
        <p:spPr>
          <a:xfrm>
            <a:off x="2156966" y="4329008"/>
            <a:ext cx="0" cy="778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 : en angle 80">
            <a:extLst>
              <a:ext uri="{FF2B5EF4-FFF2-40B4-BE49-F238E27FC236}">
                <a16:creationId xmlns:a16="http://schemas.microsoft.com/office/drawing/2014/main" id="{B206C8D6-9E6F-5936-D56B-1D874222C863}"/>
              </a:ext>
            </a:extLst>
          </p:cNvPr>
          <p:cNvCxnSpPr/>
          <p:nvPr/>
        </p:nvCxnSpPr>
        <p:spPr>
          <a:xfrm flipV="1">
            <a:off x="11608839" y="1581532"/>
            <a:ext cx="153481" cy="5332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7E56C781-D36D-5F81-545C-CBC56C15C011}"/>
              </a:ext>
            </a:extLst>
          </p:cNvPr>
          <p:cNvCxnSpPr/>
          <p:nvPr/>
        </p:nvCxnSpPr>
        <p:spPr>
          <a:xfrm flipV="1">
            <a:off x="11760732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5C70F08-4521-B283-0172-2B916D7E7BAC}"/>
              </a:ext>
            </a:extLst>
          </p:cNvPr>
          <p:cNvCxnSpPr>
            <a:cxnSpLocks/>
          </p:cNvCxnSpPr>
          <p:nvPr/>
        </p:nvCxnSpPr>
        <p:spPr>
          <a:xfrm>
            <a:off x="11623195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240AB56C-5FBB-D1B6-7D3C-D605B88E8A60}"/>
              </a:ext>
            </a:extLst>
          </p:cNvPr>
          <p:cNvGrpSpPr/>
          <p:nvPr/>
        </p:nvGrpSpPr>
        <p:grpSpPr>
          <a:xfrm>
            <a:off x="429766" y="1967814"/>
            <a:ext cx="11164825" cy="4119882"/>
            <a:chOff x="429766" y="1967814"/>
            <a:chExt cx="11164825" cy="4119882"/>
          </a:xfrm>
        </p:grpSpPr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848E44C1-4F57-4032-FA38-3730227E1EFB}"/>
                </a:ext>
              </a:extLst>
            </p:cNvPr>
            <p:cNvGrpSpPr/>
            <p:nvPr/>
          </p:nvGrpSpPr>
          <p:grpSpPr>
            <a:xfrm>
              <a:off x="429766" y="1967814"/>
              <a:ext cx="11164825" cy="4119882"/>
              <a:chOff x="201167" y="2235198"/>
              <a:chExt cx="11164825" cy="411988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02D53AF-7FEE-15D9-43BC-D230DFF744F3}"/>
                  </a:ext>
                </a:extLst>
              </p:cNvPr>
              <p:cNvSpPr/>
              <p:nvPr/>
            </p:nvSpPr>
            <p:spPr>
              <a:xfrm>
                <a:off x="201167" y="2235198"/>
                <a:ext cx="2230747" cy="119236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Capteur Température et Humidité DHT11</a:t>
                </a:r>
              </a:p>
            </p:txBody>
          </p:sp>
          <p:grpSp>
            <p:nvGrpSpPr>
              <p:cNvPr id="79" name="Groupe 78">
                <a:extLst>
                  <a:ext uri="{FF2B5EF4-FFF2-40B4-BE49-F238E27FC236}">
                    <a16:creationId xmlns:a16="http://schemas.microsoft.com/office/drawing/2014/main" id="{8087C346-6409-0BF6-153B-38119E28CBA1}"/>
                  </a:ext>
                </a:extLst>
              </p:cNvPr>
              <p:cNvGrpSpPr/>
              <p:nvPr/>
            </p:nvGrpSpPr>
            <p:grpSpPr>
              <a:xfrm>
                <a:off x="201167" y="2235198"/>
                <a:ext cx="11164825" cy="4119882"/>
                <a:chOff x="201167" y="2235198"/>
                <a:chExt cx="11164825" cy="4119882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A75A4CA-DC6D-A75D-5739-9D587D411B5C}"/>
                    </a:ext>
                  </a:extLst>
                </p:cNvPr>
                <p:cNvSpPr/>
                <p:nvPr/>
              </p:nvSpPr>
              <p:spPr>
                <a:xfrm>
                  <a:off x="3599234" y="2235200"/>
                  <a:ext cx="1911486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Emetteur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B3450AD-CB08-A62F-5BE6-43613B2DBCF1}"/>
                    </a:ext>
                  </a:extLst>
                </p:cNvPr>
                <p:cNvSpPr/>
                <p:nvPr/>
              </p:nvSpPr>
              <p:spPr>
                <a:xfrm>
                  <a:off x="6681282" y="2235200"/>
                  <a:ext cx="1956880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Récepteur</a:t>
                  </a:r>
                </a:p>
              </p:txBody>
            </p:sp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2F861443-DB94-7E2E-E7DE-17BDCFD9B987}"/>
                    </a:ext>
                  </a:extLst>
                </p:cNvPr>
                <p:cNvSpPr txBox="1"/>
                <p:nvPr/>
              </p:nvSpPr>
              <p:spPr>
                <a:xfrm>
                  <a:off x="2517572" y="2510865"/>
                  <a:ext cx="13853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400" dirty="0"/>
                    <a:t>One Wire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FD07E46-DDCC-94FD-DAA5-05B7C0F2F91F}"/>
                    </a:ext>
                  </a:extLst>
                </p:cNvPr>
                <p:cNvSpPr/>
                <p:nvPr/>
              </p:nvSpPr>
              <p:spPr>
                <a:xfrm>
                  <a:off x="201167" y="4128942"/>
                  <a:ext cx="3454400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Module amplificateur HX711</a:t>
                  </a:r>
                </a:p>
              </p:txBody>
            </p:sp>
            <p:cxnSp>
              <p:nvCxnSpPr>
                <p:cNvPr id="30" name="Connecteur : en angle 29">
                  <a:extLst>
                    <a:ext uri="{FF2B5EF4-FFF2-40B4-BE49-F238E27FC236}">
                      <a16:creationId xmlns:a16="http://schemas.microsoft.com/office/drawing/2014/main" id="{64063B75-AA0A-4256-46EC-ADF166650BF7}"/>
                    </a:ext>
                  </a:extLst>
                </p:cNvPr>
                <p:cNvCxnSpPr>
                  <a:cxnSpLocks/>
                  <a:stCxn id="19" idx="0"/>
                  <a:endCxn id="13" idx="2"/>
                </p:cNvCxnSpPr>
                <p:nvPr/>
              </p:nvCxnSpPr>
              <p:spPr>
                <a:xfrm rot="5400000" flipH="1" flipV="1">
                  <a:off x="2890981" y="2464946"/>
                  <a:ext cx="701382" cy="2626610"/>
                </a:xfrm>
                <a:prstGeom prst="bentConnector3">
                  <a:avLst>
                    <a:gd name="adj1" fmla="val 32160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1918DCB-2F49-46E5-0056-46509493AD0A}"/>
                    </a:ext>
                  </a:extLst>
                </p:cNvPr>
                <p:cNvSpPr/>
                <p:nvPr/>
              </p:nvSpPr>
              <p:spPr>
                <a:xfrm>
                  <a:off x="3599233" y="5366831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35" name="Connecteur : en angle 34">
                  <a:extLst>
                    <a:ext uri="{FF2B5EF4-FFF2-40B4-BE49-F238E27FC236}">
                      <a16:creationId xmlns:a16="http://schemas.microsoft.com/office/drawing/2014/main" id="{A45AD8C1-4686-41ED-445B-75BDBCABD766}"/>
                    </a:ext>
                  </a:extLst>
                </p:cNvPr>
                <p:cNvCxnSpPr>
                  <a:cxnSpLocks/>
                  <a:stCxn id="33" idx="0"/>
                  <a:endCxn id="13" idx="3"/>
                </p:cNvCxnSpPr>
                <p:nvPr/>
              </p:nvCxnSpPr>
              <p:spPr>
                <a:xfrm rot="5400000" flipH="1" flipV="1">
                  <a:off x="3765123" y="3621234"/>
                  <a:ext cx="2535451" cy="955744"/>
                </a:xfrm>
                <a:prstGeom prst="bentConnector4">
                  <a:avLst>
                    <a:gd name="adj1" fmla="val 38243"/>
                    <a:gd name="adj2" fmla="val 115863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2073F90-BB4B-521D-833E-7BFE0A20CC5D}"/>
                    </a:ext>
                  </a:extLst>
                </p:cNvPr>
                <p:cNvSpPr/>
                <p:nvPr/>
              </p:nvSpPr>
              <p:spPr>
                <a:xfrm>
                  <a:off x="6681282" y="5372585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43" name="Connecteur : en angle 42">
                  <a:extLst>
                    <a:ext uri="{FF2B5EF4-FFF2-40B4-BE49-F238E27FC236}">
                      <a16:creationId xmlns:a16="http://schemas.microsoft.com/office/drawing/2014/main" id="{ACF21B50-2186-CA52-8EBC-370F01002670}"/>
                    </a:ext>
                  </a:extLst>
                </p:cNvPr>
                <p:cNvCxnSpPr>
                  <a:cxnSpLocks/>
                  <a:stCxn id="39" idx="0"/>
                  <a:endCxn id="14" idx="1"/>
                </p:cNvCxnSpPr>
                <p:nvPr/>
              </p:nvCxnSpPr>
              <p:spPr>
                <a:xfrm rot="16200000" flipV="1">
                  <a:off x="5888552" y="3624111"/>
                  <a:ext cx="2541205" cy="955743"/>
                </a:xfrm>
                <a:prstGeom prst="bentConnector4">
                  <a:avLst>
                    <a:gd name="adj1" fmla="val 38270"/>
                    <a:gd name="adj2" fmla="val 117876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0B59EB-3C61-9ECC-BDD4-34D72FB26A50}"/>
                    </a:ext>
                  </a:extLst>
                </p:cNvPr>
                <p:cNvSpPr/>
                <p:nvPr/>
              </p:nvSpPr>
              <p:spPr>
                <a:xfrm>
                  <a:off x="812993" y="5374428"/>
                  <a:ext cx="2230747" cy="980652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Barre de contrainte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937785A-0F24-0F96-1F56-42808F3C298C}"/>
                    </a:ext>
                  </a:extLst>
                </p:cNvPr>
                <p:cNvSpPr/>
                <p:nvPr/>
              </p:nvSpPr>
              <p:spPr>
                <a:xfrm>
                  <a:off x="9409112" y="2235198"/>
                  <a:ext cx="1956880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Emetteur Wi-Fi</a:t>
                  </a:r>
                </a:p>
                <a:p>
                  <a:pPr algn="ctr"/>
                  <a:r>
                    <a:rPr lang="fr-FR" dirty="0"/>
                    <a:t>ESP8266-13</a:t>
                  </a:r>
                </a:p>
              </p:txBody>
            </p:sp>
            <p:cxnSp>
              <p:nvCxnSpPr>
                <p:cNvPr id="56" name="Connecteur droit 55">
                  <a:extLst>
                    <a:ext uri="{FF2B5EF4-FFF2-40B4-BE49-F238E27FC236}">
                      <a16:creationId xmlns:a16="http://schemas.microsoft.com/office/drawing/2014/main" id="{7991FBB1-04D3-3A12-DD3D-390A78FE94F6}"/>
                    </a:ext>
                  </a:extLst>
                </p:cNvPr>
                <p:cNvCxnSpPr>
                  <a:stCxn id="14" idx="3"/>
                  <a:endCxn id="54" idx="1"/>
                </p:cNvCxnSpPr>
                <p:nvPr/>
              </p:nvCxnSpPr>
              <p:spPr>
                <a:xfrm flipV="1">
                  <a:off x="8638162" y="2831378"/>
                  <a:ext cx="770950" cy="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Groupe 65">
                  <a:extLst>
                    <a:ext uri="{FF2B5EF4-FFF2-40B4-BE49-F238E27FC236}">
                      <a16:creationId xmlns:a16="http://schemas.microsoft.com/office/drawing/2014/main" id="{51E19F57-A1EE-FE68-64BB-2D49404A7281}"/>
                    </a:ext>
                  </a:extLst>
                </p:cNvPr>
                <p:cNvGrpSpPr/>
                <p:nvPr/>
              </p:nvGrpSpPr>
              <p:grpSpPr>
                <a:xfrm>
                  <a:off x="5510719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59" name="Connecteur : en angle 58">
                    <a:extLst>
                      <a:ext uri="{FF2B5EF4-FFF2-40B4-BE49-F238E27FC236}">
                        <a16:creationId xmlns:a16="http://schemas.microsoft.com/office/drawing/2014/main" id="{B032A15A-D4E8-A702-A298-F642BBEFAF53}"/>
                      </a:ext>
                    </a:extLst>
                  </p:cNvPr>
                  <p:cNvCxnSpPr>
                    <a:stCxn id="33" idx="3"/>
                  </p:cNvCxnSpPr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Connecteur droit 63">
                    <a:extLst>
                      <a:ext uri="{FF2B5EF4-FFF2-40B4-BE49-F238E27FC236}">
                        <a16:creationId xmlns:a16="http://schemas.microsoft.com/office/drawing/2014/main" id="{8764BF13-17C5-BC6C-1E42-A6F4EC1A2E9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Connecteur droit 64">
                    <a:extLst>
                      <a:ext uri="{FF2B5EF4-FFF2-40B4-BE49-F238E27FC236}">
                        <a16:creationId xmlns:a16="http://schemas.microsoft.com/office/drawing/2014/main" id="{BAF46ED1-84D5-ADDA-1BD8-20FA05FF4B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e 66">
                  <a:extLst>
                    <a:ext uri="{FF2B5EF4-FFF2-40B4-BE49-F238E27FC236}">
                      <a16:creationId xmlns:a16="http://schemas.microsoft.com/office/drawing/2014/main" id="{B47DD015-96D8-4B6D-F860-D55B4D4972AD}"/>
                    </a:ext>
                  </a:extLst>
                </p:cNvPr>
                <p:cNvGrpSpPr/>
                <p:nvPr/>
              </p:nvGrpSpPr>
              <p:grpSpPr>
                <a:xfrm flipH="1">
                  <a:off x="6379048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68" name="Connecteur : en angle 67">
                    <a:extLst>
                      <a:ext uri="{FF2B5EF4-FFF2-40B4-BE49-F238E27FC236}">
                        <a16:creationId xmlns:a16="http://schemas.microsoft.com/office/drawing/2014/main" id="{F6584A0D-6586-A779-056F-6AA895C4971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Connecteur droit 68">
                    <a:extLst>
                      <a:ext uri="{FF2B5EF4-FFF2-40B4-BE49-F238E27FC236}">
                        <a16:creationId xmlns:a16="http://schemas.microsoft.com/office/drawing/2014/main" id="{1EEA6EF5-56B1-DDD0-FC50-36FE996A070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Connecteur droit 69">
                    <a:extLst>
                      <a:ext uri="{FF2B5EF4-FFF2-40B4-BE49-F238E27FC236}">
                        <a16:creationId xmlns:a16="http://schemas.microsoft.com/office/drawing/2014/main" id="{291E4567-A46C-8563-E7DD-74CBA0C02D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1" name="ZoneTexte 70">
                  <a:extLst>
                    <a:ext uri="{FF2B5EF4-FFF2-40B4-BE49-F238E27FC236}">
                      <a16:creationId xmlns:a16="http://schemas.microsoft.com/office/drawing/2014/main" id="{445A81A3-7D73-C61A-631E-97C97DB832E2}"/>
                    </a:ext>
                  </a:extLst>
                </p:cNvPr>
                <p:cNvSpPr txBox="1"/>
                <p:nvPr/>
              </p:nvSpPr>
              <p:spPr>
                <a:xfrm>
                  <a:off x="2507037" y="3600412"/>
                  <a:ext cx="101707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SDA / SCL</a:t>
                  </a:r>
                </a:p>
              </p:txBody>
            </p:sp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B3F1C0CD-C44D-32CE-06E4-7E13349EAC32}"/>
                    </a:ext>
                  </a:extLst>
                </p:cNvPr>
                <p:cNvSpPr txBox="1"/>
                <p:nvPr/>
              </p:nvSpPr>
              <p:spPr>
                <a:xfrm rot="5400000">
                  <a:off x="1558921" y="4974625"/>
                  <a:ext cx="98065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/>
                    <a:t>Analogique</a:t>
                  </a:r>
                </a:p>
              </p:txBody>
            </p:sp>
            <p:sp>
              <p:nvSpPr>
                <p:cNvPr id="74" name="ZoneTexte 73">
                  <a:extLst>
                    <a:ext uri="{FF2B5EF4-FFF2-40B4-BE49-F238E27FC236}">
                      <a16:creationId xmlns:a16="http://schemas.microsoft.com/office/drawing/2014/main" id="{4587EF80-66A3-A02F-EFE2-6A74411F2C1E}"/>
                    </a:ext>
                  </a:extLst>
                </p:cNvPr>
                <p:cNvSpPr txBox="1"/>
                <p:nvPr/>
              </p:nvSpPr>
              <p:spPr>
                <a:xfrm>
                  <a:off x="482612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5" name="ZoneTexte 74">
                  <a:extLst>
                    <a:ext uri="{FF2B5EF4-FFF2-40B4-BE49-F238E27FC236}">
                      <a16:creationId xmlns:a16="http://schemas.microsoft.com/office/drawing/2014/main" id="{0C34C450-3C31-57F2-E276-FA4B81CCB34A}"/>
                    </a:ext>
                  </a:extLst>
                </p:cNvPr>
                <p:cNvSpPr txBox="1"/>
                <p:nvPr/>
              </p:nvSpPr>
              <p:spPr>
                <a:xfrm>
                  <a:off x="679527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176E8A98-1AE3-A4C5-4B88-2F7C4A8F42C6}"/>
                    </a:ext>
                  </a:extLst>
                </p:cNvPr>
                <p:cNvSpPr txBox="1"/>
                <p:nvPr/>
              </p:nvSpPr>
              <p:spPr>
                <a:xfrm>
                  <a:off x="8836727" y="2510864"/>
                  <a:ext cx="37382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Tx</a:t>
                  </a:r>
                  <a:endParaRPr lang="fr-FR" dirty="0"/>
                </a:p>
              </p:txBody>
            </p:sp>
            <p:cxnSp>
              <p:nvCxnSpPr>
                <p:cNvPr id="78" name="Connecteur droit 77">
                  <a:extLst>
                    <a:ext uri="{FF2B5EF4-FFF2-40B4-BE49-F238E27FC236}">
                      <a16:creationId xmlns:a16="http://schemas.microsoft.com/office/drawing/2014/main" id="{1831A272-E146-A1CB-C83E-127C5F435726}"/>
                    </a:ext>
                  </a:extLst>
                </p:cNvPr>
                <p:cNvCxnSpPr>
                  <a:stCxn id="15" idx="3"/>
                  <a:endCxn id="13" idx="1"/>
                </p:cNvCxnSpPr>
                <p:nvPr/>
              </p:nvCxnSpPr>
              <p:spPr>
                <a:xfrm>
                  <a:off x="2431914" y="2831378"/>
                  <a:ext cx="1167320" cy="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6" name="Groupe 95">
              <a:extLst>
                <a:ext uri="{FF2B5EF4-FFF2-40B4-BE49-F238E27FC236}">
                  <a16:creationId xmlns:a16="http://schemas.microsoft.com/office/drawing/2014/main" id="{01A3602B-079B-EB25-B1A3-D61D3F2B8DF0}"/>
                </a:ext>
              </a:extLst>
            </p:cNvPr>
            <p:cNvGrpSpPr/>
            <p:nvPr/>
          </p:nvGrpSpPr>
          <p:grpSpPr>
            <a:xfrm>
              <a:off x="9848849" y="3557454"/>
              <a:ext cx="1544474" cy="1774868"/>
              <a:chOff x="9848849" y="3557454"/>
              <a:chExt cx="1544474" cy="1774868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49AC8BF-480D-FB47-8081-3011819B05E5}"/>
                  </a:ext>
                </a:extLst>
              </p:cNvPr>
              <p:cNvSpPr/>
              <p:nvPr/>
            </p:nvSpPr>
            <p:spPr>
              <a:xfrm>
                <a:off x="9848849" y="3925817"/>
                <a:ext cx="1245443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Accès internet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66E4DCB-817E-AEC6-015D-BED770C9360C}"/>
                  </a:ext>
                </a:extLst>
              </p:cNvPr>
              <p:cNvSpPr/>
              <p:nvPr/>
            </p:nvSpPr>
            <p:spPr>
              <a:xfrm>
                <a:off x="9848849" y="4770149"/>
                <a:ext cx="1245444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Serveur Google</a:t>
                </a:r>
              </a:p>
            </p:txBody>
          </p:sp>
          <p:cxnSp>
            <p:nvCxnSpPr>
              <p:cNvPr id="90" name="Connecteur : en angle 89">
                <a:extLst>
                  <a:ext uri="{FF2B5EF4-FFF2-40B4-BE49-F238E27FC236}">
                    <a16:creationId xmlns:a16="http://schemas.microsoft.com/office/drawing/2014/main" id="{5ADACB5C-F31A-9E79-D431-3D334243A583}"/>
                  </a:ext>
                </a:extLst>
              </p:cNvPr>
              <p:cNvCxnSpPr/>
              <p:nvPr/>
            </p:nvCxnSpPr>
            <p:spPr>
              <a:xfrm flipV="1">
                <a:off x="11100142" y="3557454"/>
                <a:ext cx="153481" cy="533256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eur droit 90">
                <a:extLst>
                  <a:ext uri="{FF2B5EF4-FFF2-40B4-BE49-F238E27FC236}">
                    <a16:creationId xmlns:a16="http://schemas.microsoft.com/office/drawing/2014/main" id="{E3138B4C-084E-4555-FC71-7D93EA82AD1F}"/>
                  </a:ext>
                </a:extLst>
              </p:cNvPr>
              <p:cNvCxnSpPr/>
              <p:nvPr/>
            </p:nvCxnSpPr>
            <p:spPr>
              <a:xfrm flipV="1">
                <a:off x="11252035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necteur droit 91">
                <a:extLst>
                  <a:ext uri="{FF2B5EF4-FFF2-40B4-BE49-F238E27FC236}">
                    <a16:creationId xmlns:a16="http://schemas.microsoft.com/office/drawing/2014/main" id="{6858DFF6-8BF7-3C40-7170-1D27B331E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14498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necteur droit 94">
                <a:extLst>
                  <a:ext uri="{FF2B5EF4-FFF2-40B4-BE49-F238E27FC236}">
                    <a16:creationId xmlns:a16="http://schemas.microsoft.com/office/drawing/2014/main" id="{C9ED36FC-D7E8-C202-1979-3F8743D6B7DB}"/>
                  </a:ext>
                </a:extLst>
              </p:cNvPr>
              <p:cNvCxnSpPr>
                <a:stCxn id="86" idx="0"/>
                <a:endCxn id="84" idx="2"/>
              </p:cNvCxnSpPr>
              <p:nvPr/>
            </p:nvCxnSpPr>
            <p:spPr>
              <a:xfrm flipV="1">
                <a:off x="10471571" y="4487990"/>
                <a:ext cx="0" cy="2821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9313243-F1FB-DCFF-6EB2-15220C0711E7}"/>
              </a:ext>
            </a:extLst>
          </p:cNvPr>
          <p:cNvSpPr/>
          <p:nvPr/>
        </p:nvSpPr>
        <p:spPr>
          <a:xfrm>
            <a:off x="201168" y="1733711"/>
            <a:ext cx="5936683" cy="1586346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441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Capteur de température et d’humidité 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DHT 11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0FC48BDF-3FBD-E6C7-D401-A9107C5580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Mesure température et humidité</a:t>
            </a:r>
          </a:p>
          <a:p>
            <a:r>
              <a:rPr lang="fr-FR" dirty="0"/>
              <a:t>Précision suffisante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Protocole One Wire </a:t>
            </a:r>
          </a:p>
          <a:p>
            <a:endParaRPr lang="fr-FR" dirty="0"/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6140D72F-D9F4-CB54-9E77-424CCC0674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Interface série </a:t>
            </a:r>
          </a:p>
          <a:p>
            <a:pPr lvl="1"/>
            <a:r>
              <a:rPr lang="fr-FR" dirty="0"/>
              <a:t>Monofilaire bidirectionnelle</a:t>
            </a:r>
          </a:p>
          <a:p>
            <a:r>
              <a:rPr lang="fr-FR" dirty="0"/>
              <a:t>40 bits (partie décimale/ entière)</a:t>
            </a:r>
          </a:p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5</a:t>
            </a:fld>
            <a:endParaRPr lang="fr-FR"/>
          </a:p>
        </p:txBody>
      </p:sp>
      <p:pic>
        <p:nvPicPr>
          <p:cNvPr id="58" name="Image 57">
            <a:extLst>
              <a:ext uri="{FF2B5EF4-FFF2-40B4-BE49-F238E27FC236}">
                <a16:creationId xmlns:a16="http://schemas.microsoft.com/office/drawing/2014/main" id="{E704C9DF-8D52-C48A-656E-858F0092C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602" y="3688531"/>
            <a:ext cx="3564444" cy="2053590"/>
          </a:xfrm>
          <a:prstGeom prst="rect">
            <a:avLst/>
          </a:prstGeom>
        </p:spPr>
      </p:pic>
      <p:pic>
        <p:nvPicPr>
          <p:cNvPr id="60" name="Image 59" descr="Brochage DHT11">
            <a:extLst>
              <a:ext uri="{FF2B5EF4-FFF2-40B4-BE49-F238E27FC236}">
                <a16:creationId xmlns:a16="http://schemas.microsoft.com/office/drawing/2014/main" id="{96147155-F1D0-A13D-036A-6F4E4138AD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7" t="29735" r="28918" b="28628"/>
          <a:stretch/>
        </p:blipFill>
        <p:spPr bwMode="auto">
          <a:xfrm>
            <a:off x="2507223" y="3686810"/>
            <a:ext cx="2160754" cy="170838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2602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0D855E-8E32-D2FC-7261-7AC18EFE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Capteur de température et d’humidité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CB07E6-EC03-3379-5CC8-31254F25B2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8A3532-23F7-8B4C-5457-CFCC6341B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9EBF733-605C-06CE-8428-C4DB618F15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58D1E59-5590-D645-7A55-22E200E4B8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8BF6EB4-C478-4873-646E-FC693469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45EBFEC7-8870-242C-B524-4773FA60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1193B6A-DE2D-2FB8-5A99-582EE26E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E99ED5B-AB64-940C-49E5-8207AC0A9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89" y="1975187"/>
            <a:ext cx="10036292" cy="336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94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re 17">
            <a:extLst>
              <a:ext uri="{FF2B5EF4-FFF2-40B4-BE49-F238E27FC236}">
                <a16:creationId xmlns:a16="http://schemas.microsoft.com/office/drawing/2014/main" id="{9F2FEA60-F900-4C56-9486-48EA3092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fr-FR" dirty="0"/>
              <a:t>Capteur DHT11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1B10A18-C818-508D-EC68-CAD584E5F2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Signal mesuré :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E22FF6F-9033-79DA-4EE8-64221C30D8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BFDC896-3A68-15B4-DBF0-9BE9075176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C9742AA-39F0-538F-B535-0C1589262D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BDA17F-F303-4811-96C4-AD8A09AB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D5CF6D-DC44-4734-988C-0AAA60D5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08B9AF-847F-4250-A53B-82D9036A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lvl="0" rtl="0"/>
            <a:fld id="{244D815C-8BF3-4ECF-A945-A2A7C2983AF9}" type="slidenum">
              <a:rPr lang="fr-FR" smtClean="0"/>
              <a:pPr lvl="0" rtl="0"/>
              <a:t>7</a:t>
            </a:fld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0F7F0E1-1ACD-4926-0C94-3D83E43520AE}"/>
              </a:ext>
            </a:extLst>
          </p:cNvPr>
          <p:cNvGrpSpPr>
            <a:grpSpLocks noChangeAspect="1"/>
          </p:cNvGrpSpPr>
          <p:nvPr/>
        </p:nvGrpSpPr>
        <p:grpSpPr>
          <a:xfrm>
            <a:off x="1426930" y="2549557"/>
            <a:ext cx="9338140" cy="3204000"/>
            <a:chOff x="3216275" y="2440940"/>
            <a:chExt cx="5759450" cy="1976120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FB74E1F4-0763-AAF1-73DD-767C5C855D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326" b="39322"/>
            <a:stretch/>
          </p:blipFill>
          <p:spPr bwMode="auto">
            <a:xfrm>
              <a:off x="3216275" y="2440940"/>
              <a:ext cx="5759450" cy="197612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367FE56E-7FB7-ED01-CBBF-921861F48B31}"/>
                </a:ext>
              </a:extLst>
            </p:cNvPr>
            <p:cNvGrpSpPr/>
            <p:nvPr/>
          </p:nvGrpSpPr>
          <p:grpSpPr>
            <a:xfrm>
              <a:off x="3942080" y="2761275"/>
              <a:ext cx="4307840" cy="400115"/>
              <a:chOff x="0" y="0"/>
              <a:chExt cx="4307853" cy="400115"/>
            </a:xfrm>
          </p:grpSpPr>
          <p:cxnSp>
            <p:nvCxnSpPr>
              <p:cNvPr id="21" name="AutoShape 2">
                <a:extLst>
                  <a:ext uri="{FF2B5EF4-FFF2-40B4-BE49-F238E27FC236}">
                    <a16:creationId xmlns:a16="http://schemas.microsoft.com/office/drawing/2014/main" id="{79FE3189-83F9-AE67-16B3-9483741EB9F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0" y="400115"/>
                <a:ext cx="3500755" cy="0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2" name="Text Box 7">
                <a:extLst>
                  <a:ext uri="{FF2B5EF4-FFF2-40B4-BE49-F238E27FC236}">
                    <a16:creationId xmlns:a16="http://schemas.microsoft.com/office/drawing/2014/main" id="{188FA40B-F9AA-5FBA-1684-43B6FA422B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9409" y="0"/>
                <a:ext cx="1043940" cy="323850"/>
              </a:xfrm>
              <a:prstGeom prst="rect">
                <a:avLst/>
              </a:prstGeom>
              <a:gradFill rotWithShape="0">
                <a:gsLst>
                  <a:gs pos="0">
                    <a:schemeClr val="lt1">
                      <a:lumMod val="100000"/>
                      <a:lumOff val="0"/>
                    </a:schemeClr>
                  </a:gs>
                  <a:gs pos="100000">
                    <a:schemeClr val="accent5">
                      <a:lumMod val="40000"/>
                      <a:lumOff val="60000"/>
                    </a:schemeClr>
                  </a:gs>
                </a:gsLst>
                <a:lin ang="5400000" scaled="1"/>
              </a:gradFill>
              <a:ln w="12700" cmpd="sng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accent5">
                          <a:lumMod val="50000"/>
                          <a:lumOff val="0"/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500"/>
                  </a:spcBef>
                  <a:spcAft>
                    <a:spcPts val="1000"/>
                  </a:spcAft>
                </a:pPr>
                <a:r>
                  <a:rPr lang="fr-FR" sz="700">
                    <a:solidFill>
                      <a:srgbClr val="002060"/>
                    </a:solidFill>
                    <a:effectLst/>
                    <a:latin typeface="Franklin Gothic Book" panose="020B0503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Signal de démarrage</a:t>
                </a:r>
                <a:endParaRPr lang="fr-FR" sz="1000">
                  <a:effectLst/>
                  <a:latin typeface="Franklin Gothic Book" panose="020B05030201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3" name="AutoShape 8">
                <a:extLst>
                  <a:ext uri="{FF2B5EF4-FFF2-40B4-BE49-F238E27FC236}">
                    <a16:creationId xmlns:a16="http://schemas.microsoft.com/office/drawing/2014/main" id="{D5DF0927-6ACB-056B-78ED-4D437A36CD5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497114" y="400115"/>
                <a:ext cx="756285" cy="0"/>
              </a:xfrm>
              <a:prstGeom prst="straightConnector1">
                <a:avLst/>
              </a:prstGeom>
              <a:ln w="9525" cap="flat" cmpd="sng" algn="ctr">
                <a:solidFill>
                  <a:schemeClr val="accent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4" name="Text Box 9">
                <a:extLst>
                  <a:ext uri="{FF2B5EF4-FFF2-40B4-BE49-F238E27FC236}">
                    <a16:creationId xmlns:a16="http://schemas.microsoft.com/office/drawing/2014/main" id="{3073B6A9-109A-887A-E80B-6844C9CD84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9813" y="0"/>
                <a:ext cx="828040" cy="323850"/>
              </a:xfrm>
              <a:prstGeom prst="rect">
                <a:avLst/>
              </a:prstGeom>
              <a:gradFill rotWithShape="0">
                <a:gsLst>
                  <a:gs pos="0">
                    <a:schemeClr val="lt1">
                      <a:lumMod val="100000"/>
                      <a:lumOff val="0"/>
                    </a:scheme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5400000" scaled="1"/>
              </a:gradFill>
              <a:ln w="12700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800000"/>
                <a:headEnd/>
                <a:tailEnd/>
              </a:ln>
              <a:effectLst>
                <a:outerShdw dist="28398" dir="3806097" algn="ctr" rotWithShape="0">
                  <a:schemeClr val="accent1">
                    <a:lumMod val="50000"/>
                    <a:lumOff val="0"/>
                    <a:alpha val="50000"/>
                  </a:schemeClr>
                </a:outerShdw>
              </a:effec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500"/>
                  </a:spcBef>
                  <a:spcAft>
                    <a:spcPts val="1000"/>
                  </a:spcAft>
                </a:pPr>
                <a:r>
                  <a:rPr lang="fr-FR" sz="700">
                    <a:solidFill>
                      <a:srgbClr val="374041"/>
                    </a:solidFill>
                    <a:effectLst/>
                    <a:latin typeface="Franklin Gothic Book" panose="020B05030201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Bits de données</a:t>
                </a:r>
                <a:endParaRPr lang="fr-FR" sz="1000">
                  <a:effectLst/>
                  <a:latin typeface="Franklin Gothic Book" panose="020B05030201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475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re 17">
            <a:extLst>
              <a:ext uri="{FF2B5EF4-FFF2-40B4-BE49-F238E27FC236}">
                <a16:creationId xmlns:a16="http://schemas.microsoft.com/office/drawing/2014/main" id="{9F2FEA60-F900-4C56-9486-48EA3092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fr-FR" dirty="0"/>
              <a:t>Capteur DHT11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1B10A18-C818-508D-EC68-CAD584E5F2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Bits de donnée :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E22FF6F-9033-79DA-4EE8-64221C30D8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BFDC896-3A68-15B4-DBF0-9BE9075176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C9742AA-39F0-538F-B535-0C1589262D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BDA17F-F303-4811-96C4-AD8A09AB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D5CF6D-DC44-4734-988C-0AAA60D5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08B9AF-847F-4250-A53B-82D9036A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lvl="0" rtl="0"/>
            <a:fld id="{244D815C-8BF3-4ECF-A945-A2A7C2983AF9}" type="slidenum">
              <a:rPr lang="fr-FR" smtClean="0"/>
              <a:pPr lvl="0" rtl="0"/>
              <a:t>8</a:t>
            </a:fld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A4875-2BB0-9CC3-3DFC-67F6458C42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1" t="12729" r="19072" b="38322"/>
          <a:stretch/>
        </p:blipFill>
        <p:spPr bwMode="auto">
          <a:xfrm>
            <a:off x="3364476" y="2361635"/>
            <a:ext cx="5342097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3CA648C-C798-49CA-E543-79161C7CA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600" y="5067935"/>
            <a:ext cx="7943850" cy="1285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249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8CDF1-5556-1F7F-CA71-1292E1EF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Analyse fonctionnelle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A96EC0-D45A-3893-7085-9F61CF13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F12050-CB2D-E655-0A6E-AB08558A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44D678-C44C-94FB-22F4-34A1535A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14:cNvPr>
              <p14:cNvContentPartPr/>
              <p14:nvPr/>
            </p14:nvContentPartPr>
            <p14:xfrm>
              <a:off x="2946180" y="1701340"/>
              <a:ext cx="360" cy="3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7180" y="1692700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18E7E264-2508-17D8-5F5C-945844426796}"/>
              </a:ext>
            </a:extLst>
          </p:cNvPr>
          <p:cNvCxnSpPr>
            <a:cxnSpLocks/>
            <a:stCxn id="19" idx="2"/>
            <a:endCxn id="48" idx="0"/>
          </p:cNvCxnSpPr>
          <p:nvPr/>
        </p:nvCxnSpPr>
        <p:spPr>
          <a:xfrm>
            <a:off x="2156966" y="4329008"/>
            <a:ext cx="0" cy="778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 : en angle 80">
            <a:extLst>
              <a:ext uri="{FF2B5EF4-FFF2-40B4-BE49-F238E27FC236}">
                <a16:creationId xmlns:a16="http://schemas.microsoft.com/office/drawing/2014/main" id="{B206C8D6-9E6F-5936-D56B-1D874222C863}"/>
              </a:ext>
            </a:extLst>
          </p:cNvPr>
          <p:cNvCxnSpPr/>
          <p:nvPr/>
        </p:nvCxnSpPr>
        <p:spPr>
          <a:xfrm flipV="1">
            <a:off x="11608839" y="1581532"/>
            <a:ext cx="153481" cy="5332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7E56C781-D36D-5F81-545C-CBC56C15C011}"/>
              </a:ext>
            </a:extLst>
          </p:cNvPr>
          <p:cNvCxnSpPr/>
          <p:nvPr/>
        </p:nvCxnSpPr>
        <p:spPr>
          <a:xfrm flipV="1">
            <a:off x="11760732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5C70F08-4521-B283-0172-2B916D7E7BAC}"/>
              </a:ext>
            </a:extLst>
          </p:cNvPr>
          <p:cNvCxnSpPr>
            <a:cxnSpLocks/>
          </p:cNvCxnSpPr>
          <p:nvPr/>
        </p:nvCxnSpPr>
        <p:spPr>
          <a:xfrm>
            <a:off x="11623195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240AB56C-5FBB-D1B6-7D3C-D605B88E8A60}"/>
              </a:ext>
            </a:extLst>
          </p:cNvPr>
          <p:cNvGrpSpPr/>
          <p:nvPr/>
        </p:nvGrpSpPr>
        <p:grpSpPr>
          <a:xfrm>
            <a:off x="429766" y="1967814"/>
            <a:ext cx="11164825" cy="4119882"/>
            <a:chOff x="429766" y="1967814"/>
            <a:chExt cx="11164825" cy="4119882"/>
          </a:xfrm>
        </p:grpSpPr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848E44C1-4F57-4032-FA38-3730227E1EFB}"/>
                </a:ext>
              </a:extLst>
            </p:cNvPr>
            <p:cNvGrpSpPr/>
            <p:nvPr/>
          </p:nvGrpSpPr>
          <p:grpSpPr>
            <a:xfrm>
              <a:off x="429766" y="1967814"/>
              <a:ext cx="11164825" cy="4119882"/>
              <a:chOff x="201167" y="2235198"/>
              <a:chExt cx="11164825" cy="411988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02D53AF-7FEE-15D9-43BC-D230DFF744F3}"/>
                  </a:ext>
                </a:extLst>
              </p:cNvPr>
              <p:cNvSpPr/>
              <p:nvPr/>
            </p:nvSpPr>
            <p:spPr>
              <a:xfrm>
                <a:off x="201167" y="2235198"/>
                <a:ext cx="2230747" cy="11923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Capteur Température et Humidité DHT11</a:t>
                </a:r>
              </a:p>
            </p:txBody>
          </p:sp>
          <p:grpSp>
            <p:nvGrpSpPr>
              <p:cNvPr id="79" name="Groupe 78">
                <a:extLst>
                  <a:ext uri="{FF2B5EF4-FFF2-40B4-BE49-F238E27FC236}">
                    <a16:creationId xmlns:a16="http://schemas.microsoft.com/office/drawing/2014/main" id="{8087C346-6409-0BF6-153B-38119E28CBA1}"/>
                  </a:ext>
                </a:extLst>
              </p:cNvPr>
              <p:cNvGrpSpPr/>
              <p:nvPr/>
            </p:nvGrpSpPr>
            <p:grpSpPr>
              <a:xfrm>
                <a:off x="201167" y="2235198"/>
                <a:ext cx="11164825" cy="4119882"/>
                <a:chOff x="201167" y="2235198"/>
                <a:chExt cx="11164825" cy="4119882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A75A4CA-DC6D-A75D-5739-9D587D411B5C}"/>
                    </a:ext>
                  </a:extLst>
                </p:cNvPr>
                <p:cNvSpPr/>
                <p:nvPr/>
              </p:nvSpPr>
              <p:spPr>
                <a:xfrm>
                  <a:off x="3599234" y="2235200"/>
                  <a:ext cx="1911486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Emetteur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B3450AD-CB08-A62F-5BE6-43613B2DBCF1}"/>
                    </a:ext>
                  </a:extLst>
                </p:cNvPr>
                <p:cNvSpPr/>
                <p:nvPr/>
              </p:nvSpPr>
              <p:spPr>
                <a:xfrm>
                  <a:off x="6681282" y="2235200"/>
                  <a:ext cx="1956880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Récepteur</a:t>
                  </a:r>
                </a:p>
              </p:txBody>
            </p:sp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2F861443-DB94-7E2E-E7DE-17BDCFD9B987}"/>
                    </a:ext>
                  </a:extLst>
                </p:cNvPr>
                <p:cNvSpPr txBox="1"/>
                <p:nvPr/>
              </p:nvSpPr>
              <p:spPr>
                <a:xfrm>
                  <a:off x="2517572" y="2510865"/>
                  <a:ext cx="13853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400" dirty="0"/>
                    <a:t>One Wire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FD07E46-DDCC-94FD-DAA5-05B7C0F2F91F}"/>
                    </a:ext>
                  </a:extLst>
                </p:cNvPr>
                <p:cNvSpPr/>
                <p:nvPr/>
              </p:nvSpPr>
              <p:spPr>
                <a:xfrm>
                  <a:off x="201167" y="4128942"/>
                  <a:ext cx="3454400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Module amplificateur HX711</a:t>
                  </a:r>
                </a:p>
              </p:txBody>
            </p:sp>
            <p:cxnSp>
              <p:nvCxnSpPr>
                <p:cNvPr id="30" name="Connecteur : en angle 29">
                  <a:extLst>
                    <a:ext uri="{FF2B5EF4-FFF2-40B4-BE49-F238E27FC236}">
                      <a16:creationId xmlns:a16="http://schemas.microsoft.com/office/drawing/2014/main" id="{64063B75-AA0A-4256-46EC-ADF166650BF7}"/>
                    </a:ext>
                  </a:extLst>
                </p:cNvPr>
                <p:cNvCxnSpPr>
                  <a:cxnSpLocks/>
                  <a:stCxn id="19" idx="0"/>
                  <a:endCxn id="13" idx="2"/>
                </p:cNvCxnSpPr>
                <p:nvPr/>
              </p:nvCxnSpPr>
              <p:spPr>
                <a:xfrm rot="5400000" flipH="1" flipV="1">
                  <a:off x="2890981" y="2464946"/>
                  <a:ext cx="701382" cy="2626610"/>
                </a:xfrm>
                <a:prstGeom prst="bentConnector3">
                  <a:avLst>
                    <a:gd name="adj1" fmla="val 32160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1918DCB-2F49-46E5-0056-46509493AD0A}"/>
                    </a:ext>
                  </a:extLst>
                </p:cNvPr>
                <p:cNvSpPr/>
                <p:nvPr/>
              </p:nvSpPr>
              <p:spPr>
                <a:xfrm>
                  <a:off x="3599233" y="5366831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35" name="Connecteur : en angle 34">
                  <a:extLst>
                    <a:ext uri="{FF2B5EF4-FFF2-40B4-BE49-F238E27FC236}">
                      <a16:creationId xmlns:a16="http://schemas.microsoft.com/office/drawing/2014/main" id="{A45AD8C1-4686-41ED-445B-75BDBCABD766}"/>
                    </a:ext>
                  </a:extLst>
                </p:cNvPr>
                <p:cNvCxnSpPr>
                  <a:cxnSpLocks/>
                  <a:stCxn id="33" idx="0"/>
                  <a:endCxn id="13" idx="3"/>
                </p:cNvCxnSpPr>
                <p:nvPr/>
              </p:nvCxnSpPr>
              <p:spPr>
                <a:xfrm rot="5400000" flipH="1" flipV="1">
                  <a:off x="3765123" y="3621234"/>
                  <a:ext cx="2535451" cy="955744"/>
                </a:xfrm>
                <a:prstGeom prst="bentConnector4">
                  <a:avLst>
                    <a:gd name="adj1" fmla="val 38243"/>
                    <a:gd name="adj2" fmla="val 123919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2073F90-BB4B-521D-833E-7BFE0A20CC5D}"/>
                    </a:ext>
                  </a:extLst>
                </p:cNvPr>
                <p:cNvSpPr/>
                <p:nvPr/>
              </p:nvSpPr>
              <p:spPr>
                <a:xfrm>
                  <a:off x="6681282" y="5372585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43" name="Connecteur : en angle 42">
                  <a:extLst>
                    <a:ext uri="{FF2B5EF4-FFF2-40B4-BE49-F238E27FC236}">
                      <a16:creationId xmlns:a16="http://schemas.microsoft.com/office/drawing/2014/main" id="{ACF21B50-2186-CA52-8EBC-370F01002670}"/>
                    </a:ext>
                  </a:extLst>
                </p:cNvPr>
                <p:cNvCxnSpPr>
                  <a:cxnSpLocks/>
                  <a:stCxn id="39" idx="0"/>
                  <a:endCxn id="14" idx="1"/>
                </p:cNvCxnSpPr>
                <p:nvPr/>
              </p:nvCxnSpPr>
              <p:spPr>
                <a:xfrm rot="16200000" flipV="1">
                  <a:off x="5888552" y="3624111"/>
                  <a:ext cx="2541205" cy="955743"/>
                </a:xfrm>
                <a:prstGeom prst="bentConnector4">
                  <a:avLst>
                    <a:gd name="adj1" fmla="val 38270"/>
                    <a:gd name="adj2" fmla="val 123919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0B59EB-3C61-9ECC-BDD4-34D72FB26A50}"/>
                    </a:ext>
                  </a:extLst>
                </p:cNvPr>
                <p:cNvSpPr/>
                <p:nvPr/>
              </p:nvSpPr>
              <p:spPr>
                <a:xfrm>
                  <a:off x="812993" y="5374428"/>
                  <a:ext cx="2230747" cy="980652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Barre de contrainte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937785A-0F24-0F96-1F56-42808F3C298C}"/>
                    </a:ext>
                  </a:extLst>
                </p:cNvPr>
                <p:cNvSpPr/>
                <p:nvPr/>
              </p:nvSpPr>
              <p:spPr>
                <a:xfrm>
                  <a:off x="9409112" y="2235198"/>
                  <a:ext cx="1956880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Emetteur Wi-Fi</a:t>
                  </a:r>
                </a:p>
                <a:p>
                  <a:pPr algn="ctr"/>
                  <a:r>
                    <a:rPr lang="fr-FR" dirty="0"/>
                    <a:t>ESP8266-13</a:t>
                  </a:r>
                </a:p>
              </p:txBody>
            </p:sp>
            <p:cxnSp>
              <p:nvCxnSpPr>
                <p:cNvPr id="56" name="Connecteur droit 55">
                  <a:extLst>
                    <a:ext uri="{FF2B5EF4-FFF2-40B4-BE49-F238E27FC236}">
                      <a16:creationId xmlns:a16="http://schemas.microsoft.com/office/drawing/2014/main" id="{7991FBB1-04D3-3A12-DD3D-390A78FE94F6}"/>
                    </a:ext>
                  </a:extLst>
                </p:cNvPr>
                <p:cNvCxnSpPr>
                  <a:stCxn id="14" idx="3"/>
                  <a:endCxn id="54" idx="1"/>
                </p:cNvCxnSpPr>
                <p:nvPr/>
              </p:nvCxnSpPr>
              <p:spPr>
                <a:xfrm flipV="1">
                  <a:off x="8638162" y="2831378"/>
                  <a:ext cx="770950" cy="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Groupe 65">
                  <a:extLst>
                    <a:ext uri="{FF2B5EF4-FFF2-40B4-BE49-F238E27FC236}">
                      <a16:creationId xmlns:a16="http://schemas.microsoft.com/office/drawing/2014/main" id="{51E19F57-A1EE-FE68-64BB-2D49404A7281}"/>
                    </a:ext>
                  </a:extLst>
                </p:cNvPr>
                <p:cNvGrpSpPr/>
                <p:nvPr/>
              </p:nvGrpSpPr>
              <p:grpSpPr>
                <a:xfrm>
                  <a:off x="5510719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59" name="Connecteur : en angle 58">
                    <a:extLst>
                      <a:ext uri="{FF2B5EF4-FFF2-40B4-BE49-F238E27FC236}">
                        <a16:creationId xmlns:a16="http://schemas.microsoft.com/office/drawing/2014/main" id="{B032A15A-D4E8-A702-A298-F642BBEFAF53}"/>
                      </a:ext>
                    </a:extLst>
                  </p:cNvPr>
                  <p:cNvCxnSpPr>
                    <a:stCxn id="33" idx="3"/>
                  </p:cNvCxnSpPr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Connecteur droit 63">
                    <a:extLst>
                      <a:ext uri="{FF2B5EF4-FFF2-40B4-BE49-F238E27FC236}">
                        <a16:creationId xmlns:a16="http://schemas.microsoft.com/office/drawing/2014/main" id="{8764BF13-17C5-BC6C-1E42-A6F4EC1A2E9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Connecteur droit 64">
                    <a:extLst>
                      <a:ext uri="{FF2B5EF4-FFF2-40B4-BE49-F238E27FC236}">
                        <a16:creationId xmlns:a16="http://schemas.microsoft.com/office/drawing/2014/main" id="{BAF46ED1-84D5-ADDA-1BD8-20FA05FF4B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e 66">
                  <a:extLst>
                    <a:ext uri="{FF2B5EF4-FFF2-40B4-BE49-F238E27FC236}">
                      <a16:creationId xmlns:a16="http://schemas.microsoft.com/office/drawing/2014/main" id="{B47DD015-96D8-4B6D-F860-D55B4D4972AD}"/>
                    </a:ext>
                  </a:extLst>
                </p:cNvPr>
                <p:cNvGrpSpPr/>
                <p:nvPr/>
              </p:nvGrpSpPr>
              <p:grpSpPr>
                <a:xfrm flipH="1">
                  <a:off x="6379048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68" name="Connecteur : en angle 67">
                    <a:extLst>
                      <a:ext uri="{FF2B5EF4-FFF2-40B4-BE49-F238E27FC236}">
                        <a16:creationId xmlns:a16="http://schemas.microsoft.com/office/drawing/2014/main" id="{F6584A0D-6586-A779-056F-6AA895C4971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Connecteur droit 68">
                    <a:extLst>
                      <a:ext uri="{FF2B5EF4-FFF2-40B4-BE49-F238E27FC236}">
                        <a16:creationId xmlns:a16="http://schemas.microsoft.com/office/drawing/2014/main" id="{1EEA6EF5-56B1-DDD0-FC50-36FE996A070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Connecteur droit 69">
                    <a:extLst>
                      <a:ext uri="{FF2B5EF4-FFF2-40B4-BE49-F238E27FC236}">
                        <a16:creationId xmlns:a16="http://schemas.microsoft.com/office/drawing/2014/main" id="{291E4567-A46C-8563-E7DD-74CBA0C02D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1" name="ZoneTexte 70">
                  <a:extLst>
                    <a:ext uri="{FF2B5EF4-FFF2-40B4-BE49-F238E27FC236}">
                      <a16:creationId xmlns:a16="http://schemas.microsoft.com/office/drawing/2014/main" id="{445A81A3-7D73-C61A-631E-97C97DB832E2}"/>
                    </a:ext>
                  </a:extLst>
                </p:cNvPr>
                <p:cNvSpPr txBox="1"/>
                <p:nvPr/>
              </p:nvSpPr>
              <p:spPr>
                <a:xfrm>
                  <a:off x="2507037" y="3600412"/>
                  <a:ext cx="101707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SDA / SCL</a:t>
                  </a:r>
                </a:p>
              </p:txBody>
            </p:sp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B3F1C0CD-C44D-32CE-06E4-7E13349EAC32}"/>
                    </a:ext>
                  </a:extLst>
                </p:cNvPr>
                <p:cNvSpPr txBox="1"/>
                <p:nvPr/>
              </p:nvSpPr>
              <p:spPr>
                <a:xfrm rot="5400000">
                  <a:off x="1558921" y="4974625"/>
                  <a:ext cx="98065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/>
                    <a:t>Analogique</a:t>
                  </a:r>
                </a:p>
              </p:txBody>
            </p:sp>
            <p:sp>
              <p:nvSpPr>
                <p:cNvPr id="74" name="ZoneTexte 73">
                  <a:extLst>
                    <a:ext uri="{FF2B5EF4-FFF2-40B4-BE49-F238E27FC236}">
                      <a16:creationId xmlns:a16="http://schemas.microsoft.com/office/drawing/2014/main" id="{4587EF80-66A3-A02F-EFE2-6A74411F2C1E}"/>
                    </a:ext>
                  </a:extLst>
                </p:cNvPr>
                <p:cNvSpPr txBox="1"/>
                <p:nvPr/>
              </p:nvSpPr>
              <p:spPr>
                <a:xfrm>
                  <a:off x="482612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5" name="ZoneTexte 74">
                  <a:extLst>
                    <a:ext uri="{FF2B5EF4-FFF2-40B4-BE49-F238E27FC236}">
                      <a16:creationId xmlns:a16="http://schemas.microsoft.com/office/drawing/2014/main" id="{0C34C450-3C31-57F2-E276-FA4B81CCB34A}"/>
                    </a:ext>
                  </a:extLst>
                </p:cNvPr>
                <p:cNvSpPr txBox="1"/>
                <p:nvPr/>
              </p:nvSpPr>
              <p:spPr>
                <a:xfrm>
                  <a:off x="679527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176E8A98-1AE3-A4C5-4B88-2F7C4A8F42C6}"/>
                    </a:ext>
                  </a:extLst>
                </p:cNvPr>
                <p:cNvSpPr txBox="1"/>
                <p:nvPr/>
              </p:nvSpPr>
              <p:spPr>
                <a:xfrm>
                  <a:off x="8836727" y="2510864"/>
                  <a:ext cx="37382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Tx</a:t>
                  </a:r>
                  <a:endParaRPr lang="fr-FR" dirty="0"/>
                </a:p>
              </p:txBody>
            </p:sp>
            <p:cxnSp>
              <p:nvCxnSpPr>
                <p:cNvPr id="78" name="Connecteur droit 77">
                  <a:extLst>
                    <a:ext uri="{FF2B5EF4-FFF2-40B4-BE49-F238E27FC236}">
                      <a16:creationId xmlns:a16="http://schemas.microsoft.com/office/drawing/2014/main" id="{1831A272-E146-A1CB-C83E-127C5F435726}"/>
                    </a:ext>
                  </a:extLst>
                </p:cNvPr>
                <p:cNvCxnSpPr>
                  <a:stCxn id="15" idx="3"/>
                  <a:endCxn id="13" idx="1"/>
                </p:cNvCxnSpPr>
                <p:nvPr/>
              </p:nvCxnSpPr>
              <p:spPr>
                <a:xfrm>
                  <a:off x="2431914" y="2831378"/>
                  <a:ext cx="1167320" cy="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6" name="Groupe 95">
              <a:extLst>
                <a:ext uri="{FF2B5EF4-FFF2-40B4-BE49-F238E27FC236}">
                  <a16:creationId xmlns:a16="http://schemas.microsoft.com/office/drawing/2014/main" id="{01A3602B-079B-EB25-B1A3-D61D3F2B8DF0}"/>
                </a:ext>
              </a:extLst>
            </p:cNvPr>
            <p:cNvGrpSpPr/>
            <p:nvPr/>
          </p:nvGrpSpPr>
          <p:grpSpPr>
            <a:xfrm>
              <a:off x="9848849" y="3557454"/>
              <a:ext cx="1544474" cy="1774868"/>
              <a:chOff x="9848849" y="3557454"/>
              <a:chExt cx="1544474" cy="1774868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49AC8BF-480D-FB47-8081-3011819B05E5}"/>
                  </a:ext>
                </a:extLst>
              </p:cNvPr>
              <p:cNvSpPr/>
              <p:nvPr/>
            </p:nvSpPr>
            <p:spPr>
              <a:xfrm>
                <a:off x="9848849" y="3925817"/>
                <a:ext cx="1245443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Accès internet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66E4DCB-817E-AEC6-015D-BED770C9360C}"/>
                  </a:ext>
                </a:extLst>
              </p:cNvPr>
              <p:cNvSpPr/>
              <p:nvPr/>
            </p:nvSpPr>
            <p:spPr>
              <a:xfrm>
                <a:off x="9848849" y="4770149"/>
                <a:ext cx="1245444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Serveur Google</a:t>
                </a:r>
              </a:p>
            </p:txBody>
          </p:sp>
          <p:cxnSp>
            <p:nvCxnSpPr>
              <p:cNvPr id="90" name="Connecteur : en angle 89">
                <a:extLst>
                  <a:ext uri="{FF2B5EF4-FFF2-40B4-BE49-F238E27FC236}">
                    <a16:creationId xmlns:a16="http://schemas.microsoft.com/office/drawing/2014/main" id="{5ADACB5C-F31A-9E79-D431-3D334243A583}"/>
                  </a:ext>
                </a:extLst>
              </p:cNvPr>
              <p:cNvCxnSpPr/>
              <p:nvPr/>
            </p:nvCxnSpPr>
            <p:spPr>
              <a:xfrm flipV="1">
                <a:off x="11100142" y="3557454"/>
                <a:ext cx="153481" cy="533256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eur droit 90">
                <a:extLst>
                  <a:ext uri="{FF2B5EF4-FFF2-40B4-BE49-F238E27FC236}">
                    <a16:creationId xmlns:a16="http://schemas.microsoft.com/office/drawing/2014/main" id="{E3138B4C-084E-4555-FC71-7D93EA82AD1F}"/>
                  </a:ext>
                </a:extLst>
              </p:cNvPr>
              <p:cNvCxnSpPr/>
              <p:nvPr/>
            </p:nvCxnSpPr>
            <p:spPr>
              <a:xfrm flipV="1">
                <a:off x="11252035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necteur droit 91">
                <a:extLst>
                  <a:ext uri="{FF2B5EF4-FFF2-40B4-BE49-F238E27FC236}">
                    <a16:creationId xmlns:a16="http://schemas.microsoft.com/office/drawing/2014/main" id="{6858DFF6-8BF7-3C40-7170-1D27B331E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14498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necteur droit 94">
                <a:extLst>
                  <a:ext uri="{FF2B5EF4-FFF2-40B4-BE49-F238E27FC236}">
                    <a16:creationId xmlns:a16="http://schemas.microsoft.com/office/drawing/2014/main" id="{C9ED36FC-D7E8-C202-1979-3F8743D6B7DB}"/>
                  </a:ext>
                </a:extLst>
              </p:cNvPr>
              <p:cNvCxnSpPr>
                <a:stCxn id="86" idx="0"/>
                <a:endCxn id="84" idx="2"/>
              </p:cNvCxnSpPr>
              <p:nvPr/>
            </p:nvCxnSpPr>
            <p:spPr>
              <a:xfrm flipV="1">
                <a:off x="10471571" y="4487990"/>
                <a:ext cx="0" cy="2821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A3F23A2C-3281-6BEB-B133-CE896EDF5756}"/>
              </a:ext>
            </a:extLst>
          </p:cNvPr>
          <p:cNvSpPr/>
          <p:nvPr/>
        </p:nvSpPr>
        <p:spPr>
          <a:xfrm>
            <a:off x="201168" y="3310019"/>
            <a:ext cx="4102767" cy="2918338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48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Capteur de masse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Barre de contrainte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0FC48BDF-3FBD-E6C7-D401-A9107C5580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Jauges de déformation</a:t>
            </a:r>
          </a:p>
          <a:p>
            <a:r>
              <a:rPr lang="fr-FR" dirty="0"/>
              <a:t>Grande précision/ sensible à la casse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6140D72F-D9F4-CB54-9E77-424CCC0674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Pont de Wheatstone</a:t>
            </a:r>
          </a:p>
          <a:p>
            <a:r>
              <a:rPr lang="fr-FR" dirty="0"/>
              <a:t>Délivre un signal analogique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10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E906B73-A4BE-DD81-5E62-A836731E8F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93"/>
          <a:stretch/>
        </p:blipFill>
        <p:spPr bwMode="auto">
          <a:xfrm>
            <a:off x="2011960" y="3743324"/>
            <a:ext cx="2606408" cy="188676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E2491C0-D1B4-7C68-EB39-94024FAB698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48"/>
          <a:stretch/>
        </p:blipFill>
        <p:spPr bwMode="auto">
          <a:xfrm>
            <a:off x="7606879" y="3429000"/>
            <a:ext cx="2057890" cy="25154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30290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Capteur de masse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HX711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11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5D209B3-3109-8D6E-35D3-1A0F4EE380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CF64616-702B-7130-3530-6A5CE87B9F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6" name="Espace réservé du contenu 6">
            <a:extLst>
              <a:ext uri="{FF2B5EF4-FFF2-40B4-BE49-F238E27FC236}">
                <a16:creationId xmlns:a16="http://schemas.microsoft.com/office/drawing/2014/main" id="{4629E154-E389-08FF-543F-3856C0DCD6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866"/>
          <a:stretch/>
        </p:blipFill>
        <p:spPr bwMode="auto">
          <a:xfrm>
            <a:off x="2668629" y="2373630"/>
            <a:ext cx="6854741" cy="33655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3724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79B109-7C22-D48E-9A3E-B2D347FD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Vue d’ensemble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DE07BE-87FF-44DA-76A0-BACA6B764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A885D2-C735-0963-862A-5719BBE4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513B47-891B-A028-A88E-FB98FE6E0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672E86E2-E978-8891-CBA4-C840736EF1A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2169220"/>
            <a:ext cx="10328275" cy="3367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6298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re 17">
            <a:extLst>
              <a:ext uri="{FF2B5EF4-FFF2-40B4-BE49-F238E27FC236}">
                <a16:creationId xmlns:a16="http://schemas.microsoft.com/office/drawing/2014/main" id="{9F2FEA60-F900-4C56-9486-48EA3092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fr-FR" dirty="0"/>
              <a:t>Capteur de masse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1B10A18-C818-508D-EC68-CAD584E5F2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Signal mesuré :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E22FF6F-9033-79DA-4EE8-64221C30D8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BFDC896-3A68-15B4-DBF0-9BE9075176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C9742AA-39F0-538F-B535-0C1589262D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BDA17F-F303-4811-96C4-AD8A09AB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D5CF6D-DC44-4734-988C-0AAA60D5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08B9AF-847F-4250-A53B-82D9036A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lvl="0" rtl="0"/>
            <a:fld id="{244D815C-8BF3-4ECF-A945-A2A7C2983AF9}" type="slidenum">
              <a:rPr lang="fr-FR" smtClean="0"/>
              <a:pPr lvl="0" rtl="0"/>
              <a:t>13</a:t>
            </a:fld>
            <a:endParaRPr lang="fr-FR"/>
          </a:p>
        </p:txBody>
      </p:sp>
      <p:pic>
        <p:nvPicPr>
          <p:cNvPr id="19" name="Espace réservé du contenu 9">
            <a:extLst>
              <a:ext uri="{FF2B5EF4-FFF2-40B4-BE49-F238E27FC236}">
                <a16:creationId xmlns:a16="http://schemas.microsoft.com/office/drawing/2014/main" id="{D9311E9A-65CA-8C1A-A324-5B7983A57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146" y="2373630"/>
            <a:ext cx="6351621" cy="3572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2778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8CDF1-5556-1F7F-CA71-1292E1EF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Analyse fonctionnelle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A96EC0-D45A-3893-7085-9F61CF13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F12050-CB2D-E655-0A6E-AB08558A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44D678-C44C-94FB-22F4-34A1535A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14:cNvPr>
              <p14:cNvContentPartPr/>
              <p14:nvPr/>
            </p14:nvContentPartPr>
            <p14:xfrm>
              <a:off x="2946180" y="1701340"/>
              <a:ext cx="360" cy="3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7180" y="1692700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18E7E264-2508-17D8-5F5C-945844426796}"/>
              </a:ext>
            </a:extLst>
          </p:cNvPr>
          <p:cNvCxnSpPr>
            <a:cxnSpLocks/>
            <a:stCxn id="19" idx="2"/>
            <a:endCxn id="48" idx="0"/>
          </p:cNvCxnSpPr>
          <p:nvPr/>
        </p:nvCxnSpPr>
        <p:spPr>
          <a:xfrm>
            <a:off x="2156966" y="4329008"/>
            <a:ext cx="0" cy="7780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Connecteur : en angle 80">
            <a:extLst>
              <a:ext uri="{FF2B5EF4-FFF2-40B4-BE49-F238E27FC236}">
                <a16:creationId xmlns:a16="http://schemas.microsoft.com/office/drawing/2014/main" id="{B206C8D6-9E6F-5936-D56B-1D874222C863}"/>
              </a:ext>
            </a:extLst>
          </p:cNvPr>
          <p:cNvCxnSpPr/>
          <p:nvPr/>
        </p:nvCxnSpPr>
        <p:spPr>
          <a:xfrm flipV="1">
            <a:off x="11608839" y="1581532"/>
            <a:ext cx="153481" cy="5332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7E56C781-D36D-5F81-545C-CBC56C15C011}"/>
              </a:ext>
            </a:extLst>
          </p:cNvPr>
          <p:cNvCxnSpPr/>
          <p:nvPr/>
        </p:nvCxnSpPr>
        <p:spPr>
          <a:xfrm flipV="1">
            <a:off x="11760732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5C70F08-4521-B283-0172-2B916D7E7BAC}"/>
              </a:ext>
            </a:extLst>
          </p:cNvPr>
          <p:cNvCxnSpPr>
            <a:cxnSpLocks/>
          </p:cNvCxnSpPr>
          <p:nvPr/>
        </p:nvCxnSpPr>
        <p:spPr>
          <a:xfrm>
            <a:off x="11623195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240AB56C-5FBB-D1B6-7D3C-D605B88E8A60}"/>
              </a:ext>
            </a:extLst>
          </p:cNvPr>
          <p:cNvGrpSpPr/>
          <p:nvPr/>
        </p:nvGrpSpPr>
        <p:grpSpPr>
          <a:xfrm>
            <a:off x="429766" y="1967814"/>
            <a:ext cx="11164825" cy="4119882"/>
            <a:chOff x="429766" y="1967814"/>
            <a:chExt cx="11164825" cy="4119882"/>
          </a:xfrm>
        </p:grpSpPr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848E44C1-4F57-4032-FA38-3730227E1EFB}"/>
                </a:ext>
              </a:extLst>
            </p:cNvPr>
            <p:cNvGrpSpPr/>
            <p:nvPr/>
          </p:nvGrpSpPr>
          <p:grpSpPr>
            <a:xfrm>
              <a:off x="429766" y="1967814"/>
              <a:ext cx="11164825" cy="4119882"/>
              <a:chOff x="201167" y="2235198"/>
              <a:chExt cx="11164825" cy="411988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02D53AF-7FEE-15D9-43BC-D230DFF744F3}"/>
                  </a:ext>
                </a:extLst>
              </p:cNvPr>
              <p:cNvSpPr/>
              <p:nvPr/>
            </p:nvSpPr>
            <p:spPr>
              <a:xfrm>
                <a:off x="201167" y="2235198"/>
                <a:ext cx="2230747" cy="11923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Capteur Température et Humidité DHT11</a:t>
                </a:r>
              </a:p>
            </p:txBody>
          </p:sp>
          <p:grpSp>
            <p:nvGrpSpPr>
              <p:cNvPr id="79" name="Groupe 78">
                <a:extLst>
                  <a:ext uri="{FF2B5EF4-FFF2-40B4-BE49-F238E27FC236}">
                    <a16:creationId xmlns:a16="http://schemas.microsoft.com/office/drawing/2014/main" id="{8087C346-6409-0BF6-153B-38119E28CBA1}"/>
                  </a:ext>
                </a:extLst>
              </p:cNvPr>
              <p:cNvGrpSpPr/>
              <p:nvPr/>
            </p:nvGrpSpPr>
            <p:grpSpPr>
              <a:xfrm>
                <a:off x="201167" y="2235198"/>
                <a:ext cx="11164825" cy="4119882"/>
                <a:chOff x="201167" y="2235198"/>
                <a:chExt cx="11164825" cy="4119882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A75A4CA-DC6D-A75D-5739-9D587D411B5C}"/>
                    </a:ext>
                  </a:extLst>
                </p:cNvPr>
                <p:cNvSpPr/>
                <p:nvPr/>
              </p:nvSpPr>
              <p:spPr>
                <a:xfrm>
                  <a:off x="3599234" y="2235200"/>
                  <a:ext cx="1911486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Emetteur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B3450AD-CB08-A62F-5BE6-43613B2DBCF1}"/>
                    </a:ext>
                  </a:extLst>
                </p:cNvPr>
                <p:cNvSpPr/>
                <p:nvPr/>
              </p:nvSpPr>
              <p:spPr>
                <a:xfrm>
                  <a:off x="6681282" y="2235200"/>
                  <a:ext cx="1956880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Récepteur</a:t>
                  </a:r>
                </a:p>
              </p:txBody>
            </p:sp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2F861443-DB94-7E2E-E7DE-17BDCFD9B987}"/>
                    </a:ext>
                  </a:extLst>
                </p:cNvPr>
                <p:cNvSpPr txBox="1"/>
                <p:nvPr/>
              </p:nvSpPr>
              <p:spPr>
                <a:xfrm>
                  <a:off x="2517572" y="2510865"/>
                  <a:ext cx="13853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400" dirty="0"/>
                    <a:t>One Wire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FD07E46-DDCC-94FD-DAA5-05B7C0F2F91F}"/>
                    </a:ext>
                  </a:extLst>
                </p:cNvPr>
                <p:cNvSpPr/>
                <p:nvPr/>
              </p:nvSpPr>
              <p:spPr>
                <a:xfrm>
                  <a:off x="201167" y="4128942"/>
                  <a:ext cx="3454400" cy="46745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Module amplificateur HX711</a:t>
                  </a:r>
                </a:p>
              </p:txBody>
            </p:sp>
            <p:cxnSp>
              <p:nvCxnSpPr>
                <p:cNvPr id="30" name="Connecteur : en angle 29">
                  <a:extLst>
                    <a:ext uri="{FF2B5EF4-FFF2-40B4-BE49-F238E27FC236}">
                      <a16:creationId xmlns:a16="http://schemas.microsoft.com/office/drawing/2014/main" id="{64063B75-AA0A-4256-46EC-ADF166650BF7}"/>
                    </a:ext>
                  </a:extLst>
                </p:cNvPr>
                <p:cNvCxnSpPr>
                  <a:cxnSpLocks/>
                  <a:stCxn id="19" idx="0"/>
                  <a:endCxn id="13" idx="2"/>
                </p:cNvCxnSpPr>
                <p:nvPr/>
              </p:nvCxnSpPr>
              <p:spPr>
                <a:xfrm rot="5400000" flipH="1" flipV="1">
                  <a:off x="2890981" y="2464946"/>
                  <a:ext cx="701382" cy="2626610"/>
                </a:xfrm>
                <a:prstGeom prst="bentConnector3">
                  <a:avLst>
                    <a:gd name="adj1" fmla="val 32160"/>
                  </a:avLst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1918DCB-2F49-46E5-0056-46509493AD0A}"/>
                    </a:ext>
                  </a:extLst>
                </p:cNvPr>
                <p:cNvSpPr/>
                <p:nvPr/>
              </p:nvSpPr>
              <p:spPr>
                <a:xfrm>
                  <a:off x="3599233" y="5366831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35" name="Connecteur : en angle 34">
                  <a:extLst>
                    <a:ext uri="{FF2B5EF4-FFF2-40B4-BE49-F238E27FC236}">
                      <a16:creationId xmlns:a16="http://schemas.microsoft.com/office/drawing/2014/main" id="{A45AD8C1-4686-41ED-445B-75BDBCABD766}"/>
                    </a:ext>
                  </a:extLst>
                </p:cNvPr>
                <p:cNvCxnSpPr>
                  <a:cxnSpLocks/>
                  <a:stCxn id="33" idx="0"/>
                  <a:endCxn id="13" idx="3"/>
                </p:cNvCxnSpPr>
                <p:nvPr/>
              </p:nvCxnSpPr>
              <p:spPr>
                <a:xfrm rot="5400000" flipH="1" flipV="1">
                  <a:off x="3765123" y="3621234"/>
                  <a:ext cx="2535451" cy="955744"/>
                </a:xfrm>
                <a:prstGeom prst="bentConnector4">
                  <a:avLst>
                    <a:gd name="adj1" fmla="val 38243"/>
                    <a:gd name="adj2" fmla="val 123919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2073F90-BB4B-521D-833E-7BFE0A20CC5D}"/>
                    </a:ext>
                  </a:extLst>
                </p:cNvPr>
                <p:cNvSpPr/>
                <p:nvPr/>
              </p:nvSpPr>
              <p:spPr>
                <a:xfrm>
                  <a:off x="6681282" y="5372585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43" name="Connecteur : en angle 42">
                  <a:extLst>
                    <a:ext uri="{FF2B5EF4-FFF2-40B4-BE49-F238E27FC236}">
                      <a16:creationId xmlns:a16="http://schemas.microsoft.com/office/drawing/2014/main" id="{ACF21B50-2186-CA52-8EBC-370F01002670}"/>
                    </a:ext>
                  </a:extLst>
                </p:cNvPr>
                <p:cNvCxnSpPr>
                  <a:cxnSpLocks/>
                  <a:stCxn id="39" idx="0"/>
                  <a:endCxn id="14" idx="1"/>
                </p:cNvCxnSpPr>
                <p:nvPr/>
              </p:nvCxnSpPr>
              <p:spPr>
                <a:xfrm rot="16200000" flipV="1">
                  <a:off x="5888552" y="3624111"/>
                  <a:ext cx="2541205" cy="955743"/>
                </a:xfrm>
                <a:prstGeom prst="bentConnector4">
                  <a:avLst>
                    <a:gd name="adj1" fmla="val 38270"/>
                    <a:gd name="adj2" fmla="val 123919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0B59EB-3C61-9ECC-BDD4-34D72FB26A50}"/>
                    </a:ext>
                  </a:extLst>
                </p:cNvPr>
                <p:cNvSpPr/>
                <p:nvPr/>
              </p:nvSpPr>
              <p:spPr>
                <a:xfrm>
                  <a:off x="812993" y="5374428"/>
                  <a:ext cx="2230747" cy="98065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Barre de contrainte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937785A-0F24-0F96-1F56-42808F3C298C}"/>
                    </a:ext>
                  </a:extLst>
                </p:cNvPr>
                <p:cNvSpPr/>
                <p:nvPr/>
              </p:nvSpPr>
              <p:spPr>
                <a:xfrm>
                  <a:off x="9409112" y="2235198"/>
                  <a:ext cx="1956880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Emetteur Wi-Fi</a:t>
                  </a:r>
                </a:p>
                <a:p>
                  <a:pPr algn="ctr"/>
                  <a:r>
                    <a:rPr lang="fr-FR" dirty="0"/>
                    <a:t>ESP8266-13</a:t>
                  </a:r>
                </a:p>
              </p:txBody>
            </p:sp>
            <p:cxnSp>
              <p:nvCxnSpPr>
                <p:cNvPr id="56" name="Connecteur droit 55">
                  <a:extLst>
                    <a:ext uri="{FF2B5EF4-FFF2-40B4-BE49-F238E27FC236}">
                      <a16:creationId xmlns:a16="http://schemas.microsoft.com/office/drawing/2014/main" id="{7991FBB1-04D3-3A12-DD3D-390A78FE94F6}"/>
                    </a:ext>
                  </a:extLst>
                </p:cNvPr>
                <p:cNvCxnSpPr>
                  <a:stCxn id="14" idx="3"/>
                  <a:endCxn id="54" idx="1"/>
                </p:cNvCxnSpPr>
                <p:nvPr/>
              </p:nvCxnSpPr>
              <p:spPr>
                <a:xfrm flipV="1">
                  <a:off x="8638162" y="2831378"/>
                  <a:ext cx="770950" cy="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Groupe 65">
                  <a:extLst>
                    <a:ext uri="{FF2B5EF4-FFF2-40B4-BE49-F238E27FC236}">
                      <a16:creationId xmlns:a16="http://schemas.microsoft.com/office/drawing/2014/main" id="{51E19F57-A1EE-FE68-64BB-2D49404A7281}"/>
                    </a:ext>
                  </a:extLst>
                </p:cNvPr>
                <p:cNvGrpSpPr/>
                <p:nvPr/>
              </p:nvGrpSpPr>
              <p:grpSpPr>
                <a:xfrm>
                  <a:off x="5510719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59" name="Connecteur : en angle 58">
                    <a:extLst>
                      <a:ext uri="{FF2B5EF4-FFF2-40B4-BE49-F238E27FC236}">
                        <a16:creationId xmlns:a16="http://schemas.microsoft.com/office/drawing/2014/main" id="{B032A15A-D4E8-A702-A298-F642BBEFAF53}"/>
                      </a:ext>
                    </a:extLst>
                  </p:cNvPr>
                  <p:cNvCxnSpPr>
                    <a:stCxn id="33" idx="3"/>
                  </p:cNvCxnSpPr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Connecteur droit 63">
                    <a:extLst>
                      <a:ext uri="{FF2B5EF4-FFF2-40B4-BE49-F238E27FC236}">
                        <a16:creationId xmlns:a16="http://schemas.microsoft.com/office/drawing/2014/main" id="{8764BF13-17C5-BC6C-1E42-A6F4EC1A2E9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Connecteur droit 64">
                    <a:extLst>
                      <a:ext uri="{FF2B5EF4-FFF2-40B4-BE49-F238E27FC236}">
                        <a16:creationId xmlns:a16="http://schemas.microsoft.com/office/drawing/2014/main" id="{BAF46ED1-84D5-ADDA-1BD8-20FA05FF4B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e 66">
                  <a:extLst>
                    <a:ext uri="{FF2B5EF4-FFF2-40B4-BE49-F238E27FC236}">
                      <a16:creationId xmlns:a16="http://schemas.microsoft.com/office/drawing/2014/main" id="{B47DD015-96D8-4B6D-F860-D55B4D4972AD}"/>
                    </a:ext>
                  </a:extLst>
                </p:cNvPr>
                <p:cNvGrpSpPr/>
                <p:nvPr/>
              </p:nvGrpSpPr>
              <p:grpSpPr>
                <a:xfrm flipH="1">
                  <a:off x="6379048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68" name="Connecteur : en angle 67">
                    <a:extLst>
                      <a:ext uri="{FF2B5EF4-FFF2-40B4-BE49-F238E27FC236}">
                        <a16:creationId xmlns:a16="http://schemas.microsoft.com/office/drawing/2014/main" id="{F6584A0D-6586-A779-056F-6AA895C4971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Connecteur droit 68">
                    <a:extLst>
                      <a:ext uri="{FF2B5EF4-FFF2-40B4-BE49-F238E27FC236}">
                        <a16:creationId xmlns:a16="http://schemas.microsoft.com/office/drawing/2014/main" id="{1EEA6EF5-56B1-DDD0-FC50-36FE996A070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Connecteur droit 69">
                    <a:extLst>
                      <a:ext uri="{FF2B5EF4-FFF2-40B4-BE49-F238E27FC236}">
                        <a16:creationId xmlns:a16="http://schemas.microsoft.com/office/drawing/2014/main" id="{291E4567-A46C-8563-E7DD-74CBA0C02D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1" name="ZoneTexte 70">
                  <a:extLst>
                    <a:ext uri="{FF2B5EF4-FFF2-40B4-BE49-F238E27FC236}">
                      <a16:creationId xmlns:a16="http://schemas.microsoft.com/office/drawing/2014/main" id="{445A81A3-7D73-C61A-631E-97C97DB832E2}"/>
                    </a:ext>
                  </a:extLst>
                </p:cNvPr>
                <p:cNvSpPr txBox="1"/>
                <p:nvPr/>
              </p:nvSpPr>
              <p:spPr>
                <a:xfrm>
                  <a:off x="2507037" y="3600412"/>
                  <a:ext cx="101707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SDA / SCL</a:t>
                  </a:r>
                </a:p>
              </p:txBody>
            </p:sp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B3F1C0CD-C44D-32CE-06E4-7E13349EAC32}"/>
                    </a:ext>
                  </a:extLst>
                </p:cNvPr>
                <p:cNvSpPr txBox="1"/>
                <p:nvPr/>
              </p:nvSpPr>
              <p:spPr>
                <a:xfrm rot="5400000">
                  <a:off x="1558921" y="4974625"/>
                  <a:ext cx="98065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/>
                    <a:t>Analogique</a:t>
                  </a:r>
                </a:p>
              </p:txBody>
            </p:sp>
            <p:sp>
              <p:nvSpPr>
                <p:cNvPr id="74" name="ZoneTexte 73">
                  <a:extLst>
                    <a:ext uri="{FF2B5EF4-FFF2-40B4-BE49-F238E27FC236}">
                      <a16:creationId xmlns:a16="http://schemas.microsoft.com/office/drawing/2014/main" id="{4587EF80-66A3-A02F-EFE2-6A74411F2C1E}"/>
                    </a:ext>
                  </a:extLst>
                </p:cNvPr>
                <p:cNvSpPr txBox="1"/>
                <p:nvPr/>
              </p:nvSpPr>
              <p:spPr>
                <a:xfrm>
                  <a:off x="482612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5" name="ZoneTexte 74">
                  <a:extLst>
                    <a:ext uri="{FF2B5EF4-FFF2-40B4-BE49-F238E27FC236}">
                      <a16:creationId xmlns:a16="http://schemas.microsoft.com/office/drawing/2014/main" id="{0C34C450-3C31-57F2-E276-FA4B81CCB34A}"/>
                    </a:ext>
                  </a:extLst>
                </p:cNvPr>
                <p:cNvSpPr txBox="1"/>
                <p:nvPr/>
              </p:nvSpPr>
              <p:spPr>
                <a:xfrm>
                  <a:off x="679527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176E8A98-1AE3-A4C5-4B88-2F7C4A8F42C6}"/>
                    </a:ext>
                  </a:extLst>
                </p:cNvPr>
                <p:cNvSpPr txBox="1"/>
                <p:nvPr/>
              </p:nvSpPr>
              <p:spPr>
                <a:xfrm>
                  <a:off x="8836727" y="2510864"/>
                  <a:ext cx="37382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Tx</a:t>
                  </a:r>
                  <a:endParaRPr lang="fr-FR" dirty="0"/>
                </a:p>
              </p:txBody>
            </p:sp>
            <p:cxnSp>
              <p:nvCxnSpPr>
                <p:cNvPr id="78" name="Connecteur droit 77">
                  <a:extLst>
                    <a:ext uri="{FF2B5EF4-FFF2-40B4-BE49-F238E27FC236}">
                      <a16:creationId xmlns:a16="http://schemas.microsoft.com/office/drawing/2014/main" id="{1831A272-E146-A1CB-C83E-127C5F435726}"/>
                    </a:ext>
                  </a:extLst>
                </p:cNvPr>
                <p:cNvCxnSpPr>
                  <a:stCxn id="15" idx="3"/>
                  <a:endCxn id="13" idx="1"/>
                </p:cNvCxnSpPr>
                <p:nvPr/>
              </p:nvCxnSpPr>
              <p:spPr>
                <a:xfrm>
                  <a:off x="2431914" y="2831378"/>
                  <a:ext cx="1167320" cy="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6" name="Groupe 95">
              <a:extLst>
                <a:ext uri="{FF2B5EF4-FFF2-40B4-BE49-F238E27FC236}">
                  <a16:creationId xmlns:a16="http://schemas.microsoft.com/office/drawing/2014/main" id="{01A3602B-079B-EB25-B1A3-D61D3F2B8DF0}"/>
                </a:ext>
              </a:extLst>
            </p:cNvPr>
            <p:cNvGrpSpPr/>
            <p:nvPr/>
          </p:nvGrpSpPr>
          <p:grpSpPr>
            <a:xfrm>
              <a:off x="9848849" y="3557454"/>
              <a:ext cx="1544474" cy="1774868"/>
              <a:chOff x="9848849" y="3557454"/>
              <a:chExt cx="1544474" cy="1774868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49AC8BF-480D-FB47-8081-3011819B05E5}"/>
                  </a:ext>
                </a:extLst>
              </p:cNvPr>
              <p:cNvSpPr/>
              <p:nvPr/>
            </p:nvSpPr>
            <p:spPr>
              <a:xfrm>
                <a:off x="9848849" y="3925817"/>
                <a:ext cx="1245443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Accès internet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66E4DCB-817E-AEC6-015D-BED770C9360C}"/>
                  </a:ext>
                </a:extLst>
              </p:cNvPr>
              <p:cNvSpPr/>
              <p:nvPr/>
            </p:nvSpPr>
            <p:spPr>
              <a:xfrm>
                <a:off x="9848849" y="4770149"/>
                <a:ext cx="1245444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Serveur Google</a:t>
                </a:r>
              </a:p>
            </p:txBody>
          </p:sp>
          <p:cxnSp>
            <p:nvCxnSpPr>
              <p:cNvPr id="90" name="Connecteur : en angle 89">
                <a:extLst>
                  <a:ext uri="{FF2B5EF4-FFF2-40B4-BE49-F238E27FC236}">
                    <a16:creationId xmlns:a16="http://schemas.microsoft.com/office/drawing/2014/main" id="{5ADACB5C-F31A-9E79-D431-3D334243A583}"/>
                  </a:ext>
                </a:extLst>
              </p:cNvPr>
              <p:cNvCxnSpPr/>
              <p:nvPr/>
            </p:nvCxnSpPr>
            <p:spPr>
              <a:xfrm flipV="1">
                <a:off x="11100142" y="3557454"/>
                <a:ext cx="153481" cy="533256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eur droit 90">
                <a:extLst>
                  <a:ext uri="{FF2B5EF4-FFF2-40B4-BE49-F238E27FC236}">
                    <a16:creationId xmlns:a16="http://schemas.microsoft.com/office/drawing/2014/main" id="{E3138B4C-084E-4555-FC71-7D93EA82AD1F}"/>
                  </a:ext>
                </a:extLst>
              </p:cNvPr>
              <p:cNvCxnSpPr/>
              <p:nvPr/>
            </p:nvCxnSpPr>
            <p:spPr>
              <a:xfrm flipV="1">
                <a:off x="11252035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necteur droit 91">
                <a:extLst>
                  <a:ext uri="{FF2B5EF4-FFF2-40B4-BE49-F238E27FC236}">
                    <a16:creationId xmlns:a16="http://schemas.microsoft.com/office/drawing/2014/main" id="{6858DFF6-8BF7-3C40-7170-1D27B331E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14498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necteur droit 94">
                <a:extLst>
                  <a:ext uri="{FF2B5EF4-FFF2-40B4-BE49-F238E27FC236}">
                    <a16:creationId xmlns:a16="http://schemas.microsoft.com/office/drawing/2014/main" id="{C9ED36FC-D7E8-C202-1979-3F8743D6B7DB}"/>
                  </a:ext>
                </a:extLst>
              </p:cNvPr>
              <p:cNvCxnSpPr>
                <a:stCxn id="86" idx="0"/>
                <a:endCxn id="84" idx="2"/>
              </p:cNvCxnSpPr>
              <p:nvPr/>
            </p:nvCxnSpPr>
            <p:spPr>
              <a:xfrm flipV="1">
                <a:off x="10471571" y="4487990"/>
                <a:ext cx="0" cy="2821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A3F23A2C-3281-6BEB-B133-CE896EDF5756}"/>
              </a:ext>
            </a:extLst>
          </p:cNvPr>
          <p:cNvSpPr/>
          <p:nvPr/>
        </p:nvSpPr>
        <p:spPr>
          <a:xfrm>
            <a:off x="3667583" y="1646622"/>
            <a:ext cx="5397744" cy="4198848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576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Module LoRa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0FC48BDF-3FBD-E6C7-D401-A9107C5580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Hors zone connectée</a:t>
            </a:r>
          </a:p>
          <a:p>
            <a:r>
              <a:rPr lang="fr-FR" dirty="0"/>
              <a:t>Emetteur / récepteur (868 Mhz)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Protocole ISP</a:t>
            </a:r>
          </a:p>
          <a:p>
            <a:endParaRPr lang="fr-FR" dirty="0"/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6140D72F-D9F4-CB54-9E77-424CCC0674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Interface série périphérique</a:t>
            </a:r>
          </a:p>
          <a:p>
            <a:r>
              <a:rPr lang="fr-FR" dirty="0"/>
              <a:t>Synchrone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15</a:t>
            </a:fld>
            <a:endParaRPr lang="fr-FR"/>
          </a:p>
        </p:txBody>
      </p:sp>
      <p:pic>
        <p:nvPicPr>
          <p:cNvPr id="13" name="Image 12" descr="Une image contenant texte, équipement électronique, circuit&#10;&#10;Description générée automatiquement">
            <a:extLst>
              <a:ext uri="{FF2B5EF4-FFF2-40B4-BE49-F238E27FC236}">
                <a16:creationId xmlns:a16="http://schemas.microsoft.com/office/drawing/2014/main" id="{8E28DC77-451E-5995-2A0A-AA28D9056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57" y="3691148"/>
            <a:ext cx="2528570" cy="227012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ABF6482-F6AF-5B6E-E884-2720CEDC2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467" y="4057650"/>
            <a:ext cx="4725290" cy="148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42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Module LoRa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Signaux de données:  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16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2471A5B-D86E-A894-D3C6-407660CABF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57467" y="2374900"/>
            <a:ext cx="4756714" cy="3365500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247025C-C012-7D0B-5E80-5FC0117DF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774" y="2467521"/>
            <a:ext cx="3816451" cy="35991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594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8CDF1-5556-1F7F-CA71-1292E1EF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Analyse fonctionnelle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A96EC0-D45A-3893-7085-9F61CF13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F12050-CB2D-E655-0A6E-AB08558A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44D678-C44C-94FB-22F4-34A1535A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86C7-B8F9-4072-AAAA-17258464D730}" type="slidenum">
              <a:rPr kumimoji="0" lang="fr-FR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14:cNvPr>
              <p14:cNvContentPartPr/>
              <p14:nvPr/>
            </p14:nvContentPartPr>
            <p14:xfrm>
              <a:off x="2946180" y="1701340"/>
              <a:ext cx="360" cy="3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AC8960E-E9D2-36C3-1050-5C268115DE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7180" y="1692700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18E7E264-2508-17D8-5F5C-945844426796}"/>
              </a:ext>
            </a:extLst>
          </p:cNvPr>
          <p:cNvCxnSpPr>
            <a:cxnSpLocks/>
            <a:stCxn id="19" idx="2"/>
            <a:endCxn id="48" idx="0"/>
          </p:cNvCxnSpPr>
          <p:nvPr/>
        </p:nvCxnSpPr>
        <p:spPr>
          <a:xfrm>
            <a:off x="2156966" y="4329008"/>
            <a:ext cx="0" cy="7780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Connecteur : en angle 80">
            <a:extLst>
              <a:ext uri="{FF2B5EF4-FFF2-40B4-BE49-F238E27FC236}">
                <a16:creationId xmlns:a16="http://schemas.microsoft.com/office/drawing/2014/main" id="{B206C8D6-9E6F-5936-D56B-1D874222C863}"/>
              </a:ext>
            </a:extLst>
          </p:cNvPr>
          <p:cNvCxnSpPr/>
          <p:nvPr/>
        </p:nvCxnSpPr>
        <p:spPr>
          <a:xfrm flipV="1">
            <a:off x="11608839" y="1581532"/>
            <a:ext cx="153481" cy="53325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7E56C781-D36D-5F81-545C-CBC56C15C011}"/>
              </a:ext>
            </a:extLst>
          </p:cNvPr>
          <p:cNvCxnSpPr/>
          <p:nvPr/>
        </p:nvCxnSpPr>
        <p:spPr>
          <a:xfrm flipV="1">
            <a:off x="11760732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5C70F08-4521-B283-0172-2B916D7E7BAC}"/>
              </a:ext>
            </a:extLst>
          </p:cNvPr>
          <p:cNvCxnSpPr>
            <a:cxnSpLocks/>
          </p:cNvCxnSpPr>
          <p:nvPr/>
        </p:nvCxnSpPr>
        <p:spPr>
          <a:xfrm>
            <a:off x="11623195" y="1646621"/>
            <a:ext cx="141288" cy="8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240AB56C-5FBB-D1B6-7D3C-D605B88E8A60}"/>
              </a:ext>
            </a:extLst>
          </p:cNvPr>
          <p:cNvGrpSpPr/>
          <p:nvPr/>
        </p:nvGrpSpPr>
        <p:grpSpPr>
          <a:xfrm>
            <a:off x="429766" y="1967814"/>
            <a:ext cx="11164825" cy="4119882"/>
            <a:chOff x="429766" y="1967814"/>
            <a:chExt cx="11164825" cy="4119882"/>
          </a:xfrm>
        </p:grpSpPr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848E44C1-4F57-4032-FA38-3730227E1EFB}"/>
                </a:ext>
              </a:extLst>
            </p:cNvPr>
            <p:cNvGrpSpPr/>
            <p:nvPr/>
          </p:nvGrpSpPr>
          <p:grpSpPr>
            <a:xfrm>
              <a:off x="429766" y="1967814"/>
              <a:ext cx="11164825" cy="4119882"/>
              <a:chOff x="201167" y="2235198"/>
              <a:chExt cx="11164825" cy="411988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02D53AF-7FEE-15D9-43BC-D230DFF744F3}"/>
                  </a:ext>
                </a:extLst>
              </p:cNvPr>
              <p:cNvSpPr/>
              <p:nvPr/>
            </p:nvSpPr>
            <p:spPr>
              <a:xfrm>
                <a:off x="201167" y="2235198"/>
                <a:ext cx="2230747" cy="11923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Capteur Température et Humidité DHT11</a:t>
                </a:r>
              </a:p>
            </p:txBody>
          </p:sp>
          <p:grpSp>
            <p:nvGrpSpPr>
              <p:cNvPr id="79" name="Groupe 78">
                <a:extLst>
                  <a:ext uri="{FF2B5EF4-FFF2-40B4-BE49-F238E27FC236}">
                    <a16:creationId xmlns:a16="http://schemas.microsoft.com/office/drawing/2014/main" id="{8087C346-6409-0BF6-153B-38119E28CBA1}"/>
                  </a:ext>
                </a:extLst>
              </p:cNvPr>
              <p:cNvGrpSpPr/>
              <p:nvPr/>
            </p:nvGrpSpPr>
            <p:grpSpPr>
              <a:xfrm>
                <a:off x="201167" y="2235198"/>
                <a:ext cx="11164825" cy="4119882"/>
                <a:chOff x="201167" y="2235198"/>
                <a:chExt cx="11164825" cy="4119882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A75A4CA-DC6D-A75D-5739-9D587D411B5C}"/>
                    </a:ext>
                  </a:extLst>
                </p:cNvPr>
                <p:cNvSpPr/>
                <p:nvPr/>
              </p:nvSpPr>
              <p:spPr>
                <a:xfrm>
                  <a:off x="3599234" y="2235200"/>
                  <a:ext cx="1911486" cy="119236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Emetteur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B3450AD-CB08-A62F-5BE6-43613B2DBCF1}"/>
                    </a:ext>
                  </a:extLst>
                </p:cNvPr>
                <p:cNvSpPr/>
                <p:nvPr/>
              </p:nvSpPr>
              <p:spPr>
                <a:xfrm>
                  <a:off x="6681282" y="2235200"/>
                  <a:ext cx="1956880" cy="119236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Arduino Uno</a:t>
                  </a:r>
                </a:p>
                <a:p>
                  <a:pPr algn="ctr"/>
                  <a:r>
                    <a:rPr lang="fr-FR" dirty="0"/>
                    <a:t>Récepteur</a:t>
                  </a:r>
                </a:p>
              </p:txBody>
            </p:sp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2F861443-DB94-7E2E-E7DE-17BDCFD9B987}"/>
                    </a:ext>
                  </a:extLst>
                </p:cNvPr>
                <p:cNvSpPr txBox="1"/>
                <p:nvPr/>
              </p:nvSpPr>
              <p:spPr>
                <a:xfrm>
                  <a:off x="2517572" y="2510865"/>
                  <a:ext cx="13853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400" dirty="0"/>
                    <a:t>One Wire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FD07E46-DDCC-94FD-DAA5-05B7C0F2F91F}"/>
                    </a:ext>
                  </a:extLst>
                </p:cNvPr>
                <p:cNvSpPr/>
                <p:nvPr/>
              </p:nvSpPr>
              <p:spPr>
                <a:xfrm>
                  <a:off x="201167" y="4128942"/>
                  <a:ext cx="3454400" cy="46745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Module amplificateur HX711</a:t>
                  </a:r>
                </a:p>
              </p:txBody>
            </p:sp>
            <p:cxnSp>
              <p:nvCxnSpPr>
                <p:cNvPr id="30" name="Connecteur : en angle 29">
                  <a:extLst>
                    <a:ext uri="{FF2B5EF4-FFF2-40B4-BE49-F238E27FC236}">
                      <a16:creationId xmlns:a16="http://schemas.microsoft.com/office/drawing/2014/main" id="{64063B75-AA0A-4256-46EC-ADF166650BF7}"/>
                    </a:ext>
                  </a:extLst>
                </p:cNvPr>
                <p:cNvCxnSpPr>
                  <a:cxnSpLocks/>
                  <a:stCxn id="19" idx="0"/>
                  <a:endCxn id="13" idx="2"/>
                </p:cNvCxnSpPr>
                <p:nvPr/>
              </p:nvCxnSpPr>
              <p:spPr>
                <a:xfrm rot="5400000" flipH="1" flipV="1">
                  <a:off x="2890981" y="2464946"/>
                  <a:ext cx="701382" cy="2626610"/>
                </a:xfrm>
                <a:prstGeom prst="bentConnector3">
                  <a:avLst>
                    <a:gd name="adj1" fmla="val 32160"/>
                  </a:avLst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1918DCB-2F49-46E5-0056-46509493AD0A}"/>
                    </a:ext>
                  </a:extLst>
                </p:cNvPr>
                <p:cNvSpPr/>
                <p:nvPr/>
              </p:nvSpPr>
              <p:spPr>
                <a:xfrm>
                  <a:off x="3599233" y="5366831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35" name="Connecteur : en angle 34">
                  <a:extLst>
                    <a:ext uri="{FF2B5EF4-FFF2-40B4-BE49-F238E27FC236}">
                      <a16:creationId xmlns:a16="http://schemas.microsoft.com/office/drawing/2014/main" id="{A45AD8C1-4686-41ED-445B-75BDBCABD766}"/>
                    </a:ext>
                  </a:extLst>
                </p:cNvPr>
                <p:cNvCxnSpPr>
                  <a:cxnSpLocks/>
                  <a:stCxn id="33" idx="0"/>
                  <a:endCxn id="13" idx="3"/>
                </p:cNvCxnSpPr>
                <p:nvPr/>
              </p:nvCxnSpPr>
              <p:spPr>
                <a:xfrm rot="5400000" flipH="1" flipV="1">
                  <a:off x="3765123" y="3621234"/>
                  <a:ext cx="2535451" cy="955744"/>
                </a:xfrm>
                <a:prstGeom prst="bentConnector4">
                  <a:avLst>
                    <a:gd name="adj1" fmla="val 38243"/>
                    <a:gd name="adj2" fmla="val 123919"/>
                  </a:avLst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2073F90-BB4B-521D-833E-7BFE0A20CC5D}"/>
                    </a:ext>
                  </a:extLst>
                </p:cNvPr>
                <p:cNvSpPr/>
                <p:nvPr/>
              </p:nvSpPr>
              <p:spPr>
                <a:xfrm>
                  <a:off x="6681282" y="5372585"/>
                  <a:ext cx="1911486" cy="46745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Lora 868 Mhz</a:t>
                  </a:r>
                </a:p>
              </p:txBody>
            </p:sp>
            <p:cxnSp>
              <p:nvCxnSpPr>
                <p:cNvPr id="43" name="Connecteur : en angle 42">
                  <a:extLst>
                    <a:ext uri="{FF2B5EF4-FFF2-40B4-BE49-F238E27FC236}">
                      <a16:creationId xmlns:a16="http://schemas.microsoft.com/office/drawing/2014/main" id="{ACF21B50-2186-CA52-8EBC-370F01002670}"/>
                    </a:ext>
                  </a:extLst>
                </p:cNvPr>
                <p:cNvCxnSpPr>
                  <a:cxnSpLocks/>
                  <a:stCxn id="39" idx="0"/>
                  <a:endCxn id="14" idx="1"/>
                </p:cNvCxnSpPr>
                <p:nvPr/>
              </p:nvCxnSpPr>
              <p:spPr>
                <a:xfrm rot="16200000" flipV="1">
                  <a:off x="5888552" y="3624111"/>
                  <a:ext cx="2541205" cy="955743"/>
                </a:xfrm>
                <a:prstGeom prst="bentConnector4">
                  <a:avLst>
                    <a:gd name="adj1" fmla="val 38270"/>
                    <a:gd name="adj2" fmla="val 123919"/>
                  </a:avLst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0B59EB-3C61-9ECC-BDD4-34D72FB26A50}"/>
                    </a:ext>
                  </a:extLst>
                </p:cNvPr>
                <p:cNvSpPr/>
                <p:nvPr/>
              </p:nvSpPr>
              <p:spPr>
                <a:xfrm>
                  <a:off x="812993" y="5374428"/>
                  <a:ext cx="2230747" cy="98065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Barre de contrainte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937785A-0F24-0F96-1F56-42808F3C298C}"/>
                    </a:ext>
                  </a:extLst>
                </p:cNvPr>
                <p:cNvSpPr/>
                <p:nvPr/>
              </p:nvSpPr>
              <p:spPr>
                <a:xfrm>
                  <a:off x="9409112" y="2235198"/>
                  <a:ext cx="1956880" cy="119236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Emetteur Wi-Fi</a:t>
                  </a:r>
                </a:p>
                <a:p>
                  <a:pPr algn="ctr"/>
                  <a:r>
                    <a:rPr lang="fr-FR" dirty="0"/>
                    <a:t>ESP8266-13</a:t>
                  </a:r>
                </a:p>
              </p:txBody>
            </p:sp>
            <p:cxnSp>
              <p:nvCxnSpPr>
                <p:cNvPr id="56" name="Connecteur droit 55">
                  <a:extLst>
                    <a:ext uri="{FF2B5EF4-FFF2-40B4-BE49-F238E27FC236}">
                      <a16:creationId xmlns:a16="http://schemas.microsoft.com/office/drawing/2014/main" id="{7991FBB1-04D3-3A12-DD3D-390A78FE94F6}"/>
                    </a:ext>
                  </a:extLst>
                </p:cNvPr>
                <p:cNvCxnSpPr>
                  <a:stCxn id="14" idx="3"/>
                  <a:endCxn id="54" idx="1"/>
                </p:cNvCxnSpPr>
                <p:nvPr/>
              </p:nvCxnSpPr>
              <p:spPr>
                <a:xfrm flipV="1">
                  <a:off x="8638162" y="2831378"/>
                  <a:ext cx="770950" cy="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6" name="Groupe 65">
                  <a:extLst>
                    <a:ext uri="{FF2B5EF4-FFF2-40B4-BE49-F238E27FC236}">
                      <a16:creationId xmlns:a16="http://schemas.microsoft.com/office/drawing/2014/main" id="{51E19F57-A1EE-FE68-64BB-2D49404A7281}"/>
                    </a:ext>
                  </a:extLst>
                </p:cNvPr>
                <p:cNvGrpSpPr/>
                <p:nvPr/>
              </p:nvGrpSpPr>
              <p:grpSpPr>
                <a:xfrm>
                  <a:off x="5510719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59" name="Connecteur : en angle 58">
                    <a:extLst>
                      <a:ext uri="{FF2B5EF4-FFF2-40B4-BE49-F238E27FC236}">
                        <a16:creationId xmlns:a16="http://schemas.microsoft.com/office/drawing/2014/main" id="{B032A15A-D4E8-A702-A298-F642BBEFAF53}"/>
                      </a:ext>
                    </a:extLst>
                  </p:cNvPr>
                  <p:cNvCxnSpPr>
                    <a:stCxn id="33" idx="3"/>
                  </p:cNvCxnSpPr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Connecteur droit 63">
                    <a:extLst>
                      <a:ext uri="{FF2B5EF4-FFF2-40B4-BE49-F238E27FC236}">
                        <a16:creationId xmlns:a16="http://schemas.microsoft.com/office/drawing/2014/main" id="{8764BF13-17C5-BC6C-1E42-A6F4EC1A2E9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Connecteur droit 64">
                    <a:extLst>
                      <a:ext uri="{FF2B5EF4-FFF2-40B4-BE49-F238E27FC236}">
                        <a16:creationId xmlns:a16="http://schemas.microsoft.com/office/drawing/2014/main" id="{BAF46ED1-84D5-ADDA-1BD8-20FA05FF4B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e 66">
                  <a:extLst>
                    <a:ext uri="{FF2B5EF4-FFF2-40B4-BE49-F238E27FC236}">
                      <a16:creationId xmlns:a16="http://schemas.microsoft.com/office/drawing/2014/main" id="{B47DD015-96D8-4B6D-F860-D55B4D4972AD}"/>
                    </a:ext>
                  </a:extLst>
                </p:cNvPr>
                <p:cNvGrpSpPr/>
                <p:nvPr/>
              </p:nvGrpSpPr>
              <p:grpSpPr>
                <a:xfrm flipH="1">
                  <a:off x="6379048" y="5067300"/>
                  <a:ext cx="293181" cy="533256"/>
                  <a:chOff x="5510719" y="5067300"/>
                  <a:chExt cx="293181" cy="533256"/>
                </a:xfrm>
              </p:grpSpPr>
              <p:cxnSp>
                <p:nvCxnSpPr>
                  <p:cNvPr id="68" name="Connecteur : en angle 67">
                    <a:extLst>
                      <a:ext uri="{FF2B5EF4-FFF2-40B4-BE49-F238E27FC236}">
                        <a16:creationId xmlns:a16="http://schemas.microsoft.com/office/drawing/2014/main" id="{F6584A0D-6586-A779-056F-6AA895C4971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510719" y="5067300"/>
                    <a:ext cx="153481" cy="533256"/>
                  </a:xfrm>
                  <a:prstGeom prst="bentConnector2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Connecteur droit 68">
                    <a:extLst>
                      <a:ext uri="{FF2B5EF4-FFF2-40B4-BE49-F238E27FC236}">
                        <a16:creationId xmlns:a16="http://schemas.microsoft.com/office/drawing/2014/main" id="{1EEA6EF5-56B1-DDD0-FC50-36FE996A070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662612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Connecteur droit 69">
                    <a:extLst>
                      <a:ext uri="{FF2B5EF4-FFF2-40B4-BE49-F238E27FC236}">
                        <a16:creationId xmlns:a16="http://schemas.microsoft.com/office/drawing/2014/main" id="{291E4567-A46C-8563-E7DD-74CBA0C02D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25075" y="5132389"/>
                    <a:ext cx="141288" cy="8155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1" name="ZoneTexte 70">
                  <a:extLst>
                    <a:ext uri="{FF2B5EF4-FFF2-40B4-BE49-F238E27FC236}">
                      <a16:creationId xmlns:a16="http://schemas.microsoft.com/office/drawing/2014/main" id="{445A81A3-7D73-C61A-631E-97C97DB832E2}"/>
                    </a:ext>
                  </a:extLst>
                </p:cNvPr>
                <p:cNvSpPr txBox="1"/>
                <p:nvPr/>
              </p:nvSpPr>
              <p:spPr>
                <a:xfrm>
                  <a:off x="2507037" y="3600412"/>
                  <a:ext cx="101707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SDA / SCL</a:t>
                  </a:r>
                </a:p>
              </p:txBody>
            </p:sp>
            <p:sp>
              <p:nvSpPr>
                <p:cNvPr id="72" name="ZoneTexte 71">
                  <a:extLst>
                    <a:ext uri="{FF2B5EF4-FFF2-40B4-BE49-F238E27FC236}">
                      <a16:creationId xmlns:a16="http://schemas.microsoft.com/office/drawing/2014/main" id="{B3F1C0CD-C44D-32CE-06E4-7E13349EAC32}"/>
                    </a:ext>
                  </a:extLst>
                </p:cNvPr>
                <p:cNvSpPr txBox="1"/>
                <p:nvPr/>
              </p:nvSpPr>
              <p:spPr>
                <a:xfrm rot="5400000">
                  <a:off x="1558921" y="4974625"/>
                  <a:ext cx="980654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900" dirty="0"/>
                    <a:t>Analogique</a:t>
                  </a:r>
                </a:p>
              </p:txBody>
            </p:sp>
            <p:sp>
              <p:nvSpPr>
                <p:cNvPr id="74" name="ZoneTexte 73">
                  <a:extLst>
                    <a:ext uri="{FF2B5EF4-FFF2-40B4-BE49-F238E27FC236}">
                      <a16:creationId xmlns:a16="http://schemas.microsoft.com/office/drawing/2014/main" id="{4587EF80-66A3-A02F-EFE2-6A74411F2C1E}"/>
                    </a:ext>
                  </a:extLst>
                </p:cNvPr>
                <p:cNvSpPr txBox="1"/>
                <p:nvPr/>
              </p:nvSpPr>
              <p:spPr>
                <a:xfrm>
                  <a:off x="482612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5" name="ZoneTexte 74">
                  <a:extLst>
                    <a:ext uri="{FF2B5EF4-FFF2-40B4-BE49-F238E27FC236}">
                      <a16:creationId xmlns:a16="http://schemas.microsoft.com/office/drawing/2014/main" id="{0C34C450-3C31-57F2-E276-FA4B81CCB34A}"/>
                    </a:ext>
                  </a:extLst>
                </p:cNvPr>
                <p:cNvSpPr txBox="1"/>
                <p:nvPr/>
              </p:nvSpPr>
              <p:spPr>
                <a:xfrm>
                  <a:off x="6795279" y="4054890"/>
                  <a:ext cx="4363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SPI</a:t>
                  </a:r>
                  <a:endParaRPr lang="fr-FR" dirty="0"/>
                </a:p>
              </p:txBody>
            </p:sp>
            <p:sp>
              <p:nvSpPr>
                <p:cNvPr id="76" name="ZoneTexte 75">
                  <a:extLst>
                    <a:ext uri="{FF2B5EF4-FFF2-40B4-BE49-F238E27FC236}">
                      <a16:creationId xmlns:a16="http://schemas.microsoft.com/office/drawing/2014/main" id="{176E8A98-1AE3-A4C5-4B88-2F7C4A8F42C6}"/>
                    </a:ext>
                  </a:extLst>
                </p:cNvPr>
                <p:cNvSpPr txBox="1"/>
                <p:nvPr/>
              </p:nvSpPr>
              <p:spPr>
                <a:xfrm>
                  <a:off x="8836727" y="2510864"/>
                  <a:ext cx="37382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400" dirty="0"/>
                    <a:t>Tx</a:t>
                  </a:r>
                  <a:endParaRPr lang="fr-FR" dirty="0"/>
                </a:p>
              </p:txBody>
            </p:sp>
            <p:cxnSp>
              <p:nvCxnSpPr>
                <p:cNvPr id="78" name="Connecteur droit 77">
                  <a:extLst>
                    <a:ext uri="{FF2B5EF4-FFF2-40B4-BE49-F238E27FC236}">
                      <a16:creationId xmlns:a16="http://schemas.microsoft.com/office/drawing/2014/main" id="{1831A272-E146-A1CB-C83E-127C5F435726}"/>
                    </a:ext>
                  </a:extLst>
                </p:cNvPr>
                <p:cNvCxnSpPr>
                  <a:stCxn id="15" idx="3"/>
                  <a:endCxn id="13" idx="1"/>
                </p:cNvCxnSpPr>
                <p:nvPr/>
              </p:nvCxnSpPr>
              <p:spPr>
                <a:xfrm>
                  <a:off x="2431914" y="2831378"/>
                  <a:ext cx="1167320" cy="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6" name="Groupe 95">
              <a:extLst>
                <a:ext uri="{FF2B5EF4-FFF2-40B4-BE49-F238E27FC236}">
                  <a16:creationId xmlns:a16="http://schemas.microsoft.com/office/drawing/2014/main" id="{01A3602B-079B-EB25-B1A3-D61D3F2B8DF0}"/>
                </a:ext>
              </a:extLst>
            </p:cNvPr>
            <p:cNvGrpSpPr/>
            <p:nvPr/>
          </p:nvGrpSpPr>
          <p:grpSpPr>
            <a:xfrm>
              <a:off x="9848849" y="3557454"/>
              <a:ext cx="1544474" cy="1774868"/>
              <a:chOff x="9848849" y="3557454"/>
              <a:chExt cx="1544474" cy="1774868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49AC8BF-480D-FB47-8081-3011819B05E5}"/>
                  </a:ext>
                </a:extLst>
              </p:cNvPr>
              <p:cNvSpPr/>
              <p:nvPr/>
            </p:nvSpPr>
            <p:spPr>
              <a:xfrm>
                <a:off x="9848849" y="3925817"/>
                <a:ext cx="1245443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Accès internet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66E4DCB-817E-AEC6-015D-BED770C9360C}"/>
                  </a:ext>
                </a:extLst>
              </p:cNvPr>
              <p:cNvSpPr/>
              <p:nvPr/>
            </p:nvSpPr>
            <p:spPr>
              <a:xfrm>
                <a:off x="9848849" y="4770149"/>
                <a:ext cx="1245444" cy="56217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/>
                  <a:t>Serveur Google</a:t>
                </a:r>
              </a:p>
            </p:txBody>
          </p:sp>
          <p:cxnSp>
            <p:nvCxnSpPr>
              <p:cNvPr id="90" name="Connecteur : en angle 89">
                <a:extLst>
                  <a:ext uri="{FF2B5EF4-FFF2-40B4-BE49-F238E27FC236}">
                    <a16:creationId xmlns:a16="http://schemas.microsoft.com/office/drawing/2014/main" id="{5ADACB5C-F31A-9E79-D431-3D334243A583}"/>
                  </a:ext>
                </a:extLst>
              </p:cNvPr>
              <p:cNvCxnSpPr/>
              <p:nvPr/>
            </p:nvCxnSpPr>
            <p:spPr>
              <a:xfrm flipV="1">
                <a:off x="11100142" y="3557454"/>
                <a:ext cx="153481" cy="533256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eur droit 90">
                <a:extLst>
                  <a:ext uri="{FF2B5EF4-FFF2-40B4-BE49-F238E27FC236}">
                    <a16:creationId xmlns:a16="http://schemas.microsoft.com/office/drawing/2014/main" id="{E3138B4C-084E-4555-FC71-7D93EA82AD1F}"/>
                  </a:ext>
                </a:extLst>
              </p:cNvPr>
              <p:cNvCxnSpPr/>
              <p:nvPr/>
            </p:nvCxnSpPr>
            <p:spPr>
              <a:xfrm flipV="1">
                <a:off x="11252035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necteur droit 91">
                <a:extLst>
                  <a:ext uri="{FF2B5EF4-FFF2-40B4-BE49-F238E27FC236}">
                    <a16:creationId xmlns:a16="http://schemas.microsoft.com/office/drawing/2014/main" id="{6858DFF6-8BF7-3C40-7170-1D27B331E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14498" y="3622543"/>
                <a:ext cx="141288" cy="815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necteur droit 94">
                <a:extLst>
                  <a:ext uri="{FF2B5EF4-FFF2-40B4-BE49-F238E27FC236}">
                    <a16:creationId xmlns:a16="http://schemas.microsoft.com/office/drawing/2014/main" id="{C9ED36FC-D7E8-C202-1979-3F8743D6B7DB}"/>
                  </a:ext>
                </a:extLst>
              </p:cNvPr>
              <p:cNvCxnSpPr>
                <a:stCxn id="86" idx="0"/>
                <a:endCxn id="84" idx="2"/>
              </p:cNvCxnSpPr>
              <p:nvPr/>
            </p:nvCxnSpPr>
            <p:spPr>
              <a:xfrm flipV="1">
                <a:off x="10471571" y="4487990"/>
                <a:ext cx="0" cy="2821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A3F23A2C-3281-6BEB-B133-CE896EDF5756}"/>
              </a:ext>
            </a:extLst>
          </p:cNvPr>
          <p:cNvSpPr/>
          <p:nvPr/>
        </p:nvSpPr>
        <p:spPr>
          <a:xfrm flipH="1">
            <a:off x="9065327" y="1409700"/>
            <a:ext cx="2835252" cy="4157196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960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BDEF2C88-115D-14D7-D574-2BC82EC078AB}"/>
              </a:ext>
            </a:extLst>
          </p:cNvPr>
          <p:cNvCxnSpPr/>
          <p:nvPr/>
        </p:nvCxnSpPr>
        <p:spPr>
          <a:xfrm flipH="1">
            <a:off x="7995920" y="3774907"/>
            <a:ext cx="94996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Wi-Fi et serveur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Module Wi-Fi ESP8366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0FC48BDF-3FBD-E6C7-D401-A9107C5580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Module indépendant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Communication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6140D72F-D9F4-CB54-9E77-424CCC0674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Liaison série</a:t>
            </a:r>
          </a:p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18</a:t>
            </a:fld>
            <a:endParaRPr lang="fr-FR"/>
          </a:p>
        </p:txBody>
      </p:sp>
      <p:pic>
        <p:nvPicPr>
          <p:cNvPr id="6" name="Image 5" descr="Une image contenant texte, équipement électronique, circuit&#10;&#10;Description générée automatiquement">
            <a:extLst>
              <a:ext uri="{FF2B5EF4-FFF2-40B4-BE49-F238E27FC236}">
                <a16:creationId xmlns:a16="http://schemas.microsoft.com/office/drawing/2014/main" id="{F5A562DE-FEEA-5993-E483-478B692B9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335" y="2838831"/>
            <a:ext cx="3209544" cy="3209544"/>
          </a:xfrm>
          <a:prstGeom prst="rect">
            <a:avLst/>
          </a:prstGeom>
        </p:spPr>
      </p:pic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66D37287-353F-540C-56A1-85B2536B2BB0}"/>
              </a:ext>
            </a:extLst>
          </p:cNvPr>
          <p:cNvCxnSpPr/>
          <p:nvPr/>
        </p:nvCxnSpPr>
        <p:spPr>
          <a:xfrm flipH="1">
            <a:off x="8110220" y="4331125"/>
            <a:ext cx="94996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EC909FBB-C27E-5659-B866-F590CA3F3980}"/>
              </a:ext>
            </a:extLst>
          </p:cNvPr>
          <p:cNvCxnSpPr/>
          <p:nvPr/>
        </p:nvCxnSpPr>
        <p:spPr>
          <a:xfrm flipH="1">
            <a:off x="7995920" y="3774907"/>
            <a:ext cx="94996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B4FB3527-0AE9-877F-22E8-F7EDAA6EF36D}"/>
              </a:ext>
            </a:extLst>
          </p:cNvPr>
          <p:cNvGrpSpPr/>
          <p:nvPr/>
        </p:nvGrpSpPr>
        <p:grpSpPr>
          <a:xfrm>
            <a:off x="5827484" y="3491549"/>
            <a:ext cx="2371928" cy="1132201"/>
            <a:chOff x="5965956" y="3572146"/>
            <a:chExt cx="2371928" cy="113220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C3DE1C8-C839-9195-2888-8B0A7A50A54E}"/>
                </a:ext>
              </a:extLst>
            </p:cNvPr>
            <p:cNvSpPr/>
            <p:nvPr/>
          </p:nvSpPr>
          <p:spPr>
            <a:xfrm>
              <a:off x="5965956" y="3585411"/>
              <a:ext cx="2371927" cy="111893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Arduino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8B53218-C398-EF9B-8AF2-EB6A8193FBD0}"/>
                </a:ext>
              </a:extLst>
            </p:cNvPr>
            <p:cNvSpPr/>
            <p:nvPr/>
          </p:nvSpPr>
          <p:spPr>
            <a:xfrm>
              <a:off x="7832558" y="3572146"/>
              <a:ext cx="505326" cy="56671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FF0000"/>
                  </a:solidFill>
                </a:rPr>
                <a:t>Rx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445511E-2746-59F6-966A-D10BD447729F}"/>
                </a:ext>
              </a:extLst>
            </p:cNvPr>
            <p:cNvSpPr/>
            <p:nvPr/>
          </p:nvSpPr>
          <p:spPr>
            <a:xfrm>
              <a:off x="7832558" y="4128364"/>
              <a:ext cx="505326" cy="56671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FF0000"/>
                  </a:solidFill>
                </a:rPr>
                <a:t>Tx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1AB96105-5D5C-D607-158E-4694A0238F46}"/>
              </a:ext>
            </a:extLst>
          </p:cNvPr>
          <p:cNvGrpSpPr/>
          <p:nvPr/>
        </p:nvGrpSpPr>
        <p:grpSpPr>
          <a:xfrm flipH="1">
            <a:off x="8759178" y="3491549"/>
            <a:ext cx="2371928" cy="1132201"/>
            <a:chOff x="5965956" y="3572146"/>
            <a:chExt cx="2371928" cy="113220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89DA2AE-30BD-936C-B2A3-69C53CD2D927}"/>
                </a:ext>
              </a:extLst>
            </p:cNvPr>
            <p:cNvSpPr/>
            <p:nvPr/>
          </p:nvSpPr>
          <p:spPr>
            <a:xfrm>
              <a:off x="5965956" y="3585411"/>
              <a:ext cx="2371927" cy="111893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ESP8266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8C7B460-77CC-6F12-825C-83B3E35DDC32}"/>
                </a:ext>
              </a:extLst>
            </p:cNvPr>
            <p:cNvSpPr/>
            <p:nvPr/>
          </p:nvSpPr>
          <p:spPr>
            <a:xfrm>
              <a:off x="7832558" y="3572146"/>
              <a:ext cx="505326" cy="56671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FF0000"/>
                  </a:solidFill>
                </a:rPr>
                <a:t>Tx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72786F-73E0-B2D2-9651-101B6772263A}"/>
                </a:ext>
              </a:extLst>
            </p:cNvPr>
            <p:cNvSpPr/>
            <p:nvPr/>
          </p:nvSpPr>
          <p:spPr>
            <a:xfrm>
              <a:off x="7832558" y="4128364"/>
              <a:ext cx="505326" cy="56671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FF0000"/>
                  </a:solidFill>
                </a:rPr>
                <a:t>Rx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4109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Wi-Fi et serveur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Signaux de données:  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19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2471A5B-D86E-A894-D3C6-407660CABF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57467" y="2374900"/>
            <a:ext cx="4756714" cy="3365500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633EB6A-BFCC-D7CD-45C5-C8BE5FCBE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0" y="2767192"/>
            <a:ext cx="9845154" cy="25806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1884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Wi-Fi et serveur</a:t>
            </a: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Procédure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0FC48BDF-3FBD-E6C7-D401-A9107C5580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Connexion à internet:</a:t>
            </a:r>
          </a:p>
          <a:p>
            <a:pPr marL="457200" lvl="1" indent="0">
              <a:buNone/>
            </a:pPr>
            <a:r>
              <a:rPr lang="fr-FR" dirty="0" err="1"/>
              <a:t>WiFi.begin</a:t>
            </a:r>
            <a:r>
              <a:rPr lang="fr-FR" dirty="0"/>
              <a:t> (</a:t>
            </a:r>
            <a:r>
              <a:rPr lang="fr-FR" dirty="0" err="1"/>
              <a:t>ssid</a:t>
            </a:r>
            <a:r>
              <a:rPr lang="fr-FR" dirty="0"/>
              <a:t>, </a:t>
            </a:r>
            <a:r>
              <a:rPr lang="fr-FR" dirty="0" err="1"/>
              <a:t>password</a:t>
            </a:r>
            <a:r>
              <a:rPr lang="fr-FR" dirty="0"/>
              <a:t>)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6140D72F-D9F4-CB54-9E77-424CCC0674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Requête:</a:t>
            </a:r>
          </a:p>
          <a:p>
            <a:pPr marL="457200" lvl="1" indent="0">
              <a:buNone/>
            </a:pPr>
            <a:r>
              <a:rPr lang="fr-FR" dirty="0" err="1"/>
              <a:t>http.begin</a:t>
            </a:r>
            <a:r>
              <a:rPr lang="fr-FR" dirty="0"/>
              <a:t>(XX)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20</a:t>
            </a:fld>
            <a:endParaRPr lang="fr-FR"/>
          </a:p>
        </p:txBody>
      </p:sp>
      <p:pic>
        <p:nvPicPr>
          <p:cNvPr id="7" name="Graphique 6" descr="Routeur sans fil avec un remplissage uni">
            <a:extLst>
              <a:ext uri="{FF2B5EF4-FFF2-40B4-BE49-F238E27FC236}">
                <a16:creationId xmlns:a16="http://schemas.microsoft.com/office/drawing/2014/main" id="{E1F58DB5-28BC-C12D-FEF0-DAFB2ADE8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0554" y="3429000"/>
            <a:ext cx="1623215" cy="1623215"/>
          </a:xfrm>
          <a:prstGeom prst="rect">
            <a:avLst/>
          </a:prstGeom>
        </p:spPr>
      </p:pic>
      <p:pic>
        <p:nvPicPr>
          <p:cNvPr id="13" name="Graphique 12" descr="Fenêtre de navigateur avec un remplissage uni">
            <a:extLst>
              <a:ext uri="{FF2B5EF4-FFF2-40B4-BE49-F238E27FC236}">
                <a16:creationId xmlns:a16="http://schemas.microsoft.com/office/drawing/2014/main" id="{D798EC51-93B2-B948-D312-02B07A2D2C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1425" y="3652194"/>
            <a:ext cx="1400021" cy="140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3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Wi-Fi et serveur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6140D72F-D9F4-CB54-9E77-424CCC0674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21</a:t>
            </a:fld>
            <a:endParaRPr lang="fr-FR"/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Procédure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0FC48BDF-3FBD-E6C7-D401-A9107C5580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Chemin 1: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AA1D124A-B544-3754-0131-3D768F0B22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27"/>
          <a:stretch/>
        </p:blipFill>
        <p:spPr bwMode="auto">
          <a:xfrm>
            <a:off x="1902836" y="3085623"/>
            <a:ext cx="8386328" cy="194405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3684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Wi-Fi et serveur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6140D72F-D9F4-CB54-9E77-424CCC0674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22</a:t>
            </a:fld>
            <a:endParaRPr lang="fr-FR"/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Procédure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0FC48BDF-3FBD-E6C7-D401-A9107C5580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Chemin 2:</a:t>
            </a:r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0939B2A7-541A-74EB-DE73-54EB3339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004C9A1F-628D-1ADB-568C-20ADFAD884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27"/>
          <a:stretch/>
        </p:blipFill>
        <p:spPr bwMode="auto">
          <a:xfrm>
            <a:off x="2450779" y="3161390"/>
            <a:ext cx="7030356" cy="21693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3868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21C5EA2A-10BF-4B5E-ACC8-8A766A09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Wi-Fi et serveur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932065-5BEE-4D45-A3A1-6F0559B4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fr-FR" noProof="0" dirty="0">
                <a:solidFill>
                  <a:prstClr val="black"/>
                </a:solidFill>
              </a:rPr>
              <a:t>Ruche connectée 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8D2C1D6-521E-4B36-BBF3-F3613BE0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>
              <a:defRPr/>
            </a:pPr>
            <a:r>
              <a:rPr lang="fr-FR" noProof="0" dirty="0">
                <a:solidFill>
                  <a:prstClr val="black"/>
                </a:solidFill>
              </a:rPr>
              <a:t>HABERT HOYO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CC3E1D-B7F8-47F6-A352-B757462B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22F022-211C-4882-844C-086FEA6806AA}" type="slidenum">
              <a:rPr lang="fr-FR" smtClean="0"/>
              <a:pPr lvl="0"/>
              <a:t>23</a:t>
            </a:fld>
            <a:endParaRPr lang="fr-FR"/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AEAC0465-1751-47C8-9200-CF24EEB5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Procédure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0FC48BDF-3FBD-E6C7-D401-A9107C5580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Mise en ligne: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13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5FD74097-647D-6E47-A83F-20502BF15D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03"/>
          <a:stretch/>
        </p:blipFill>
        <p:spPr bwMode="auto">
          <a:xfrm>
            <a:off x="3170143" y="3161606"/>
            <a:ext cx="6195365" cy="21234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42724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re 31">
            <a:extLst>
              <a:ext uri="{FF2B5EF4-FFF2-40B4-BE49-F238E27FC236}">
                <a16:creationId xmlns:a16="http://schemas.microsoft.com/office/drawing/2014/main" id="{30761B21-88ED-449E-B2B9-3FC40844C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01" y="4947313"/>
            <a:ext cx="7700617" cy="1409037"/>
          </a:xfrm>
        </p:spPr>
        <p:txBody>
          <a:bodyPr rtlCol="0"/>
          <a:lstStyle/>
          <a:p>
            <a:pPr rtl="0"/>
            <a:r>
              <a:rPr lang="fr-FR" dirty="0"/>
              <a:t>Merci</a:t>
            </a:r>
          </a:p>
        </p:txBody>
      </p:sp>
      <p:sp>
        <p:nvSpPr>
          <p:cNvPr id="33" name="Sous-titre 32">
            <a:extLst>
              <a:ext uri="{FF2B5EF4-FFF2-40B4-BE49-F238E27FC236}">
                <a16:creationId xmlns:a16="http://schemas.microsoft.com/office/drawing/2014/main" id="{0EEAA874-288B-4330-9FA4-F1144ACD4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6252" y="386989"/>
            <a:ext cx="2443495" cy="3758334"/>
          </a:xfrm>
        </p:spPr>
        <p:txBody>
          <a:bodyPr rtlCol="0"/>
          <a:lstStyle/>
          <a:p>
            <a:pPr rtl="0"/>
            <a:r>
              <a:rPr lang="fr-FR" dirty="0"/>
              <a:t>HABERT</a:t>
            </a:r>
          </a:p>
          <a:p>
            <a:pPr rtl="0"/>
            <a:r>
              <a:rPr lang="fr-FR" dirty="0"/>
              <a:t>HOYO</a:t>
            </a:r>
          </a:p>
          <a:p>
            <a:pPr rtl="0"/>
            <a:endParaRPr lang="fr-FR" dirty="0"/>
          </a:p>
          <a:p>
            <a:pPr rtl="0"/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A09E0B-CEBC-425D-8A86-1F858D8DE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168" y="6356350"/>
            <a:ext cx="4837176" cy="365125"/>
          </a:xfrm>
        </p:spPr>
        <p:txBody>
          <a:bodyPr rtlCol="0"/>
          <a:lstStyle/>
          <a:p>
            <a:pPr lvl="0" rtl="0"/>
            <a:r>
              <a:rPr lang="fr-FR" dirty="0"/>
              <a:t>Ruche connectée </a:t>
            </a:r>
          </a:p>
        </p:txBody>
      </p:sp>
      <p:pic>
        <p:nvPicPr>
          <p:cNvPr id="58" name="Espace réservé d’image 57" descr="Image contenant la montagne, le ciel, l’extérieur, la nature">
            <a:extLst>
              <a:ext uri="{FF2B5EF4-FFF2-40B4-BE49-F238E27FC236}">
                <a16:creationId xmlns:a16="http://schemas.microsoft.com/office/drawing/2014/main" id="{A51C462C-6D3B-4554-9CDC-86D00D0EA07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0" y="4532313"/>
            <a:ext cx="3048000" cy="2325687"/>
          </a:xfrm>
        </p:spPr>
      </p:pic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BAEA19-91BF-48E8-A1D4-8FB745EA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3448" y="6355080"/>
            <a:ext cx="4352544" cy="365125"/>
          </a:xfrm>
        </p:spPr>
        <p:txBody>
          <a:bodyPr rtlCol="0"/>
          <a:lstStyle/>
          <a:p>
            <a:pPr lvl="0" rtl="0"/>
            <a:r>
              <a:rPr lang="fr-FR"/>
              <a:t>20XX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887279-B48F-43C3-91FA-09BD7EA3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92" y="6356350"/>
            <a:ext cx="630936" cy="365125"/>
          </a:xfrm>
        </p:spPr>
        <p:txBody>
          <a:bodyPr rtlCol="0"/>
          <a:lstStyle/>
          <a:p>
            <a:pPr lvl="0" rtl="0"/>
            <a:fld id="{D39F39FF-F5CB-4ACA-9B46-4CCF89ECA75F}" type="slidenum">
              <a:rPr lang="fr-FR" smtClean="0"/>
              <a:pPr lvl="0" rtl="0"/>
              <a:t>24</a:t>
            </a:fld>
            <a:endParaRPr lang="fr-FR"/>
          </a:p>
        </p:txBody>
      </p:sp>
      <p:pic>
        <p:nvPicPr>
          <p:cNvPr id="8" name="Espace réservé pour une image  7" descr="Une image contenant herbe, extérieur, ciel, champ&#10;&#10;Description générée automatiquement">
            <a:extLst>
              <a:ext uri="{FF2B5EF4-FFF2-40B4-BE49-F238E27FC236}">
                <a16:creationId xmlns:a16="http://schemas.microsoft.com/office/drawing/2014/main" id="{83D6F25C-9A50-DCDE-E060-21F93C59E0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2838" b="1283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67611276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Jaune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200_TF89117832_Win32" id="{266FED3A-7DEB-489C-9F23-7D039F5D1264}" vid="{EAF8E0F0-4D7E-420A-B903-CC5B9B25B69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757C30-AE9A-4680-90EB-19D282EC2B7C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5CCB28C-7D26-4A36-9CFC-D739C28F3D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F0BF08-C674-44E3-8BFC-85BC65E09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Design « Bloc de couleur »</Template>
  <TotalTime>570</TotalTime>
  <Words>583</Words>
  <Application>Microsoft Office PowerPoint</Application>
  <PresentationFormat>Grand écran</PresentationFormat>
  <Paragraphs>267</Paragraphs>
  <Slides>24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Avenir Next LT Pro</vt:lpstr>
      <vt:lpstr>Calibri</vt:lpstr>
      <vt:lpstr>Franklin Gothic Book</vt:lpstr>
      <vt:lpstr>Open Sans</vt:lpstr>
      <vt:lpstr>ColorBlockVTI</vt:lpstr>
      <vt:lpstr>Ruche Connectée</vt:lpstr>
      <vt:lpstr>Sommaire</vt:lpstr>
      <vt:lpstr>Analyse fonctionnelle</vt:lpstr>
      <vt:lpstr>Analyse fonctionnelle</vt:lpstr>
      <vt:lpstr>Capteur de température et d’humidité </vt:lpstr>
      <vt:lpstr>Capteur de température et d’humidité </vt:lpstr>
      <vt:lpstr>Capteur DHT11</vt:lpstr>
      <vt:lpstr>Capteur DHT11</vt:lpstr>
      <vt:lpstr>Analyse fonctionnelle</vt:lpstr>
      <vt:lpstr>Capteur de masse</vt:lpstr>
      <vt:lpstr>Capteur de masse</vt:lpstr>
      <vt:lpstr>Vue d’ensemble</vt:lpstr>
      <vt:lpstr>Capteur de masse</vt:lpstr>
      <vt:lpstr>Analyse fonctionnelle</vt:lpstr>
      <vt:lpstr>Module LoRa</vt:lpstr>
      <vt:lpstr>Module LoRa</vt:lpstr>
      <vt:lpstr>Analyse fonctionnelle</vt:lpstr>
      <vt:lpstr>Wi-Fi et serveur</vt:lpstr>
      <vt:lpstr>Wi-Fi et serveur</vt:lpstr>
      <vt:lpstr>Wi-Fi et serveur</vt:lpstr>
      <vt:lpstr>Wi-Fi et serveur</vt:lpstr>
      <vt:lpstr>Wi-Fi et serveur</vt:lpstr>
      <vt:lpstr>Wi-Fi et serveur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Ruche Connectée</dc:title>
  <dc:creator>Loic habert</dc:creator>
  <cp:lastModifiedBy>Loic habert</cp:lastModifiedBy>
  <cp:revision>339</cp:revision>
  <dcterms:created xsi:type="dcterms:W3CDTF">2022-05-17T11:56:47Z</dcterms:created>
  <dcterms:modified xsi:type="dcterms:W3CDTF">2022-05-17T21:26:57Z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